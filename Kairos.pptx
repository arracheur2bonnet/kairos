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 ici, a reçu un colis cette semaine ? (Les mains se lèvent.)</a:t>
            </a:r>
          </a:p>
          <a:p>
            <a:r>
              <a:t>[→] Vous avez reçu un message quand il est parti, [→] un autre en route, [→] un dernier à l’arrivée. Pour un colis, on vous prévient trois fois.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une femme. Elle a porté plainte contre son ex-conjoint, et un juge lui interdit de l’approcher. [→] Quelques mois plus tard, la cour d’appel annule cette interdiction. [→] Combien de messages reçoit-elle ? (Pause.) [→] Parfois, aucun.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L’Inspection générale de la justice l’a constaté l’an dernier : dans ce cas, à peine un tribunal sur deux prévient la victime.</a:t>
            </a:r>
          </a:p>
          <a:p>
            <a:r>
              <a:t>[→] (Facultatif, si on vous interroge : en fin de peine, c’est 95 %. Plus la décision est imprévue, moins l’information arrive.)</a:t>
            </a:r>
          </a:p>
          <a:p/>
          <a:p>
            <a:r>
              <a:t>Chiffres exacts : 55,3 % (ordonnance de protection infirmée en appel) et 95,4 % (libération en fin de peine). Ce sont les déclarations des tribunaux, pas une mesure des victimes informées. Pages du rapport : 52 et 45 selon le dossier,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 décision passe par plusieurs services, et chacun a son logiciel. Ces logiciels ne se parlent pas. [→] Et plus une information traverse de services, plus elle se perd en chemin. [→] Personne ne vérifie qu’elle est arrivée.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suit mieux un colis qu’une décision de justice. (Pause.)</a:t>
            </a:r>
          </a:p>
          <a:p>
            <a:r>
              <a:t>[→] C’est là qu’intervient notre projet. D’où notre question : comment transformer la lourdeur procédurale en levier d’efficacité, au service de l’état de droit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là qu’intervient notre projet. Dans chaque tribunal, les affaires pénales sont enregistrées dans un logiciel, Cassiopée. Plutôt que de le remplacer, ou d’ajouter un logiciel de plus, nous avons conçu une brique d’intelligence artificielle qui s’y ajoute : Kairos. [→]</a:t>
            </a:r>
          </a:p>
          <a:p>
            <a:r>
              <a:t>Son objectif est simple : rendre le suivi des procédures plus fiable, alléger les tâches administratives, et éviter qu’une information ou une échéance essentielle passe entre les mailles du filet.</a:t>
            </a:r>
          </a:p>
          <a:p/>
          <a:p>
            <a:r>
              <a:t>(« Kairos » : en grec, le bon moment. À dire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Kairos repose sur trois fonctions.</a:t>
            </a:r>
          </a:p>
          <a:p>
            <a:r>
              <a:t>Un : fiabiliser les données. Kairos lit les procès-verbaux et les décisions, et en extrait les informations clés : qui, quoi, quand. Il vérifie que rien ne manque : mentions obligatoires, coordonnées à jour, délais. S’il détecte un manque, il alerte le greffe ou le magistrat, qui décide. (Il ne qualifie rien : il signale les risques, y compris de nullité, et c’est le magistrat qui apprécie.) [→]</a:t>
            </a:r>
          </a:p>
          <a:p>
            <a:r>
              <a:t>Deux : interconnecter les services. Une information saisie une fois est partagée avec tous les services qui en ont besoin : tribunal, cour d’appel, prison, police. Plus de ressaisie, plus de versions différentes d’un service à l’autre. Pour chaque décision, Kairos sait qui doit être prévenu, et dans quel délai. [→]</a:t>
            </a:r>
          </a:p>
          <a:p>
            <a:r>
              <a:t>Trois : notifier automatiquement. C’est le cœur de notre projet. Kairos prépare un message clair pour la victime ; un agent du greffe le valide, puis il part. Comme un colis, il est suivi : envoyé, distribué, consulté quand c’est techniquement possible. S’il n’aboutit pas à temps, le greffe est alerté : il vérifie les coordonnées ou contacte la victime autrement. [→]</a:t>
            </a:r>
          </a:p>
          <a:p>
            <a:r>
              <a:t>On ne suppose plus que l’information est passée : on le sait.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technique, facultative : à passer si le temps manque.)</a:t>
            </a:r>
          </a:p>
          <a:p>
            <a:r>
              <a:t>Avant de vous montrer, le squelette, en trente secondes.</a:t>
            </a:r>
          </a:p>
          <a:p>
            <a:r>
              <a:t>D’abord, nos sources : Cassiopée pour la procédure pénale, les logiciels civils du juge aux affaires familiales et du juge des enfants, GENESIS pour la détention, et la police. Kairos ne remplace aucun d’eux : il s’y branche. [→]</a:t>
            </a:r>
          </a:p>
          <a:p>
            <a:r>
              <a:t>Ensuite, ce que fait l’intelligence artificielle : elle lit les procès-verbaux et les décisions, en extrait les personnes, les adresses, les dates et les mesures, vérifie les mentions obligatoires et les délais, et rédige le message en mots simples. Elle propose. Elle ne décide rien. [→]</a:t>
            </a:r>
          </a:p>
          <a:p>
            <a:r>
              <a:t>Enfin, ce que fait la plateforme : elle relie les logiciels, applique les règles juridiques qui disent qui doit être informé et en vertu de quel texte, envoie après validation, et suit chaque message : envoyé, distribué, consulté. Elle alerte sur les irrégularités, et garde la trace de tout. [→]</a:t>
            </a:r>
          </a:p>
          <a:p>
            <a:r>
              <a:t>L’IA propose, le greffe valide, la plateforme envoie et prouve. Voyons-le.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une minute.)</a:t>
            </a:r>
          </a:p>
          <a:p>
            <a:r>
              <a:t>Reprenons cette femme. Avec Kairos, le soir même, elle reçoit : « La cour d’appel a levé l’interdiction de contact. Voici qui appeler. » Son avocat et la police aussi. [→ diapositive suivante] Le lendemain, le greffe sait qu’elle l’a lu.</a:t>
            </a:r>
          </a:p>
          <a:p/>
          <a:p>
            <a:r>
              <a:t>PARCOURS DU SITE ACTUEL (45 secondes, libération de M. R. reçue de GENESIS) : alerte de tête, « Analyser l’impact », « Voir les 6 actions », ouvrir l’avis à la victime, cocher les trois cases, « Valider l’avis ». À NE PAS OUVRIR : l’action n°6 (DGFiP), l’onglet Vigilance, « Demander à Kairos ».</a:t>
            </a:r>
          </a:p>
          <a:p>
            <a:r>
              <a:t>ATTENTION : le site actuel montre une libération, le pitch montre une cour d’appel qui annule l’interdiction. Dire « une décision arrive, Kairos prépare l’avis » pendant la démo.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lendemain, le greffe sait qu’elle l’a lu. [→] (Si besoin : « Et si le message n’aboutit pas à temps, le greffe est alerté. Il vérifie les coordonnées ou contacte la victime autrement.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enjeux. [→] Sa sécurité : prévenue à temps, elle peut se protéger. [→] L’État de droit : une décision ne vaut que si elle est connue. [→] La confiance : une victime informée continue de croire en la justice.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c’est toujours un humain qui valide.</a:t>
            </a:r>
          </a:p>
          <a:p>
            <a:r>
              <a:t>[→] (Si on vous interroge : Kairos ne décide rien, il n’évalue aucune personne, chaque action est journalisée. Les adresses successives de la victime sont conservées avec leur date et leur source ; le téléphone est privilégié, et une confirmation est demandée au moindre doute, car un message mal adressé peut être plus dangereux qu’un message absent.)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Vous savez toujours où est votre colis. [→] Nous voulons que chaque victime sache, au bon moment, ce que la justice a décidé pour elle.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2743200" cy="457200"/>
          </a:xfrm>
          <a:prstGeom prst="rect">
            <a:avLst/>
          </a:prstGeom>
          <a:noFill/>
        </p:spPr>
        <p:txBody>
          <a:bodyPr wrap="square" anchor="t" lIns="45720" rIns="45720">
            <a:spAutoFit/>
          </a:bodyPr>
          <a:lstStyle/>
          <a:p>
            <a:pPr algn="l">
              <a:spcAft>
                <a:spcPts val="600"/>
              </a:spcAft>
            </a:pPr>
            <a:r>
              <a:rPr sz="2200" b="1" i="0">
                <a:solidFill>
                  <a:srgbClr val="161616"/>
                </a:solidFill>
                <a:latin typeface="Arial"/>
              </a:rPr>
              <a:t>Kairos</a:t>
            </a:r>
          </a:p>
        </p:txBody>
      </p:sp>
      <p:sp>
        <p:nvSpPr>
          <p:cNvPr id="3" name="Rectangle 2"/>
          <p:cNvSpPr/>
          <p:nvPr/>
        </p:nvSpPr>
        <p:spPr>
          <a:xfrm>
            <a:off x="685800" y="914400"/>
            <a:ext cx="822960" cy="365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94560"/>
            <a:ext cx="6583680" cy="2377440"/>
          </a:xfrm>
          <a:prstGeom prst="rect">
            <a:avLst/>
          </a:prstGeom>
          <a:noFill/>
        </p:spPr>
        <p:txBody>
          <a:bodyPr wrap="square" anchor="t" lIns="45720" rIns="45720">
            <a:spAutoFit/>
          </a:bodyPr>
          <a:lstStyle/>
          <a:p>
            <a:pPr algn="l">
              <a:spcAft>
                <a:spcPts val="600"/>
              </a:spcAft>
            </a:pPr>
            <a:r>
              <a:rPr sz="5000" b="1" i="0">
                <a:solidFill>
                  <a:srgbClr val="161616"/>
                </a:solidFill>
                <a:latin typeface="Arial"/>
              </a:rPr>
              <a:t>Qui, ici, a reçu un colis cette semaine ?</a:t>
            </a:r>
          </a:p>
        </p:txBody>
      </p:sp>
      <p:sp>
        <p:nvSpPr>
          <p:cNvPr id="5" name="TextBox 4"/>
          <p:cNvSpPr txBox="1"/>
          <p:nvPr/>
        </p:nvSpPr>
        <p:spPr>
          <a:xfrm>
            <a:off x="685800" y="4572000"/>
            <a:ext cx="6583680" cy="548640"/>
          </a:xfrm>
          <a:prstGeom prst="rect">
            <a:avLst/>
          </a:prstGeom>
          <a:noFill/>
        </p:spPr>
        <p:txBody>
          <a:bodyPr wrap="square" anchor="t" lIns="45720" rIns="45720">
            <a:spAutoFit/>
          </a:bodyPr>
          <a:lstStyle/>
          <a:p>
            <a:pPr algn="l">
              <a:spcAft>
                <a:spcPts val="600"/>
              </a:spcAft>
            </a:pPr>
            <a:r>
              <a:rPr sz="2200" b="0" i="0">
                <a:solidFill>
                  <a:srgbClr val="666666"/>
                </a:solidFill>
                <a:latin typeface="Arial"/>
              </a:rPr>
              <a:t>Pour un colis, on vous prévient trois fois.</a:t>
            </a:r>
          </a:p>
        </p:txBody>
      </p:sp>
      <p:sp>
        <p:nvSpPr>
          <p:cNvPr id="6" name="Rounded Rectangle 5"/>
          <p:cNvSpPr/>
          <p:nvPr/>
        </p:nvSpPr>
        <p:spPr>
          <a:xfrm>
            <a:off x="8138160" y="822960"/>
            <a:ext cx="3200400" cy="4754880"/>
          </a:xfrm>
          <a:prstGeom prst="roundRect">
            <a:avLst>
              <a:gd name="adj" fmla="val 8000"/>
            </a:avLst>
          </a:prstGeom>
          <a:solidFill>
            <a:srgbClr val="FFFFFF"/>
          </a:solidFill>
          <a:ln w="76200">
            <a:solidFill>
              <a:srgbClr val="161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1234440"/>
            <a:ext cx="2651760" cy="274320"/>
          </a:xfrm>
          <a:prstGeom prst="rect">
            <a:avLst/>
          </a:prstGeom>
          <a:noFill/>
        </p:spPr>
        <p:txBody>
          <a:bodyPr wrap="square" anchor="t" lIns="45720" rIns="45720">
            <a:spAutoFit/>
          </a:bodyPr>
          <a:lstStyle/>
          <a:p>
            <a:pPr algn="l">
              <a:spcAft>
                <a:spcPts val="600"/>
              </a:spcAft>
            </a:pPr>
            <a:r>
              <a:rPr sz="1100" b="0" i="0">
                <a:solidFill>
                  <a:srgbClr val="666666"/>
                </a:solidFill>
                <a:latin typeface="Arial"/>
              </a:rPr>
              <a:t>Suivi de colis</a:t>
            </a:r>
          </a:p>
        </p:txBody>
      </p:sp>
      <p:sp>
        <p:nvSpPr>
          <p:cNvPr id="8" name="TextBox 7"/>
          <p:cNvSpPr txBox="1"/>
          <p:nvPr/>
        </p:nvSpPr>
        <p:spPr>
          <a:xfrm>
            <a:off x="8412480" y="1481328"/>
            <a:ext cx="2651760" cy="411480"/>
          </a:xfrm>
          <a:prstGeom prst="rect">
            <a:avLst/>
          </a:prstGeom>
          <a:noFill/>
        </p:spPr>
        <p:txBody>
          <a:bodyPr wrap="square" anchor="t" lIns="45720" rIns="45720">
            <a:spAutoFit/>
          </a:bodyPr>
          <a:lstStyle/>
          <a:p>
            <a:pPr algn="l">
              <a:spcAft>
                <a:spcPts val="600"/>
              </a:spcAft>
            </a:pPr>
            <a:r>
              <a:rPr sz="1500" b="1" i="0">
                <a:solidFill>
                  <a:srgbClr val="161616"/>
                </a:solidFill>
                <a:latin typeface="Arial"/>
              </a:rPr>
              <a:t>Votre commande</a:t>
            </a:r>
          </a:p>
        </p:txBody>
      </p:sp>
      <p:sp>
        <p:nvSpPr>
          <p:cNvPr id="9" name="Rectangle 8"/>
          <p:cNvSpPr/>
          <p:nvPr/>
        </p:nvSpPr>
        <p:spPr>
          <a:xfrm>
            <a:off x="8458200" y="1965960"/>
            <a:ext cx="256032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58200" y="2130551"/>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11" name="TextBox 10"/>
          <p:cNvSpPr txBox="1"/>
          <p:nvPr/>
        </p:nvSpPr>
        <p:spPr>
          <a:xfrm>
            <a:off x="8823960" y="2066543"/>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Il est parti</a:t>
            </a:r>
          </a:p>
        </p:txBody>
      </p:sp>
      <p:sp>
        <p:nvSpPr>
          <p:cNvPr id="12" name="TextBox 11"/>
          <p:cNvSpPr txBox="1"/>
          <p:nvPr/>
        </p:nvSpPr>
        <p:spPr>
          <a:xfrm>
            <a:off x="8823960" y="2331720"/>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Votre colis a été expédié</a:t>
            </a:r>
          </a:p>
        </p:txBody>
      </p:sp>
      <p:sp>
        <p:nvSpPr>
          <p:cNvPr id="13" name="Oval 12"/>
          <p:cNvSpPr/>
          <p:nvPr/>
        </p:nvSpPr>
        <p:spPr>
          <a:xfrm>
            <a:off x="8458200" y="2788919"/>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14" name="TextBox 13"/>
          <p:cNvSpPr txBox="1"/>
          <p:nvPr/>
        </p:nvSpPr>
        <p:spPr>
          <a:xfrm>
            <a:off x="8823960" y="2724911"/>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Il est en route</a:t>
            </a:r>
          </a:p>
        </p:txBody>
      </p:sp>
      <p:sp>
        <p:nvSpPr>
          <p:cNvPr id="15" name="TextBox 14"/>
          <p:cNvSpPr txBox="1"/>
          <p:nvPr/>
        </p:nvSpPr>
        <p:spPr>
          <a:xfrm>
            <a:off x="8823960" y="2990087"/>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Arrivée prévue demain</a:t>
            </a:r>
          </a:p>
        </p:txBody>
      </p:sp>
      <p:sp>
        <p:nvSpPr>
          <p:cNvPr id="16" name="Oval 15"/>
          <p:cNvSpPr/>
          <p:nvPr/>
        </p:nvSpPr>
        <p:spPr>
          <a:xfrm>
            <a:off x="8458200" y="3447287"/>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17" name="TextBox 16"/>
          <p:cNvSpPr txBox="1"/>
          <p:nvPr/>
        </p:nvSpPr>
        <p:spPr>
          <a:xfrm>
            <a:off x="8823960" y="3383279"/>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Il est arrivé</a:t>
            </a:r>
          </a:p>
        </p:txBody>
      </p:sp>
      <p:sp>
        <p:nvSpPr>
          <p:cNvPr id="18" name="TextBox 17"/>
          <p:cNvSpPr txBox="1"/>
          <p:nvPr/>
        </p:nvSpPr>
        <p:spPr>
          <a:xfrm>
            <a:off x="8823960" y="3648455"/>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Livré à votre porte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822960"/>
            <a:ext cx="6766560" cy="3657600"/>
          </a:xfrm>
          <a:prstGeom prst="rect">
            <a:avLst/>
          </a:prstGeom>
          <a:noFill/>
        </p:spPr>
        <p:txBody>
          <a:bodyPr wrap="square" anchor="t" lIns="45720" rIns="45720">
            <a:spAutoFit/>
          </a:bodyPr>
          <a:lstStyle/>
          <a:p>
            <a:pPr algn="l">
              <a:spcAft>
                <a:spcPts val="600"/>
              </a:spcAft>
            </a:pPr>
            <a:r>
              <a:rPr sz="2700" b="1" i="0">
                <a:solidFill>
                  <a:srgbClr val="161616"/>
                </a:solidFill>
                <a:latin typeface="Arial"/>
              </a:rPr>
              <a:t>Elle a porté plainte contre son ex-conjoint, et un juge lui interdit de l’approcher.</a:t>
            </a:r>
          </a:p>
          <a:p>
            <a:pPr algn="l">
              <a:spcAft>
                <a:spcPts val="600"/>
              </a:spcAft>
            </a:pPr>
            <a:r>
              <a:rPr sz="2700" b="1" i="0">
                <a:solidFill>
                  <a:srgbClr val="161616"/>
                </a:solidFill>
                <a:latin typeface="Arial"/>
              </a:rPr>
              <a:t>Quelques mois plus tard, la cour d’appel annule cette interdiction.</a:t>
            </a:r>
          </a:p>
        </p:txBody>
      </p:sp>
      <p:sp>
        <p:nvSpPr>
          <p:cNvPr id="3" name="TextBox 2"/>
          <p:cNvSpPr txBox="1"/>
          <p:nvPr/>
        </p:nvSpPr>
        <p:spPr>
          <a:xfrm>
            <a:off x="685800" y="3657600"/>
            <a:ext cx="6766560" cy="1097280"/>
          </a:xfrm>
          <a:prstGeom prst="rect">
            <a:avLst/>
          </a:prstGeom>
          <a:noFill/>
        </p:spPr>
        <p:txBody>
          <a:bodyPr wrap="square" anchor="t" lIns="45720" rIns="45720">
            <a:spAutoFit/>
          </a:bodyPr>
          <a:lstStyle/>
          <a:p>
            <a:pPr algn="l">
              <a:spcAft>
                <a:spcPts val="600"/>
              </a:spcAft>
            </a:pPr>
            <a:r>
              <a:rPr sz="3400" b="1" i="0">
                <a:solidFill>
                  <a:srgbClr val="000091"/>
                </a:solidFill>
                <a:latin typeface="Arial"/>
              </a:rPr>
              <a:t>Combien de messages reçoit-elle ?</a:t>
            </a:r>
          </a:p>
        </p:txBody>
      </p:sp>
      <p:sp>
        <p:nvSpPr>
          <p:cNvPr id="4" name="TextBox 3"/>
          <p:cNvSpPr txBox="1"/>
          <p:nvPr/>
        </p:nvSpPr>
        <p:spPr>
          <a:xfrm>
            <a:off x="685800" y="4937760"/>
            <a:ext cx="6766560" cy="914400"/>
          </a:xfrm>
          <a:prstGeom prst="rect">
            <a:avLst/>
          </a:prstGeom>
          <a:noFill/>
        </p:spPr>
        <p:txBody>
          <a:bodyPr wrap="square" anchor="t" lIns="45720" rIns="45720">
            <a:spAutoFit/>
          </a:bodyPr>
          <a:lstStyle/>
          <a:p>
            <a:pPr algn="l">
              <a:spcAft>
                <a:spcPts val="600"/>
              </a:spcAft>
            </a:pPr>
            <a:r>
              <a:rPr sz="4600" b="1" i="0">
                <a:solidFill>
                  <a:srgbClr val="CE0500"/>
                </a:solidFill>
                <a:latin typeface="Arial"/>
              </a:rPr>
              <a:t>Parfois, aucun.</a:t>
            </a:r>
          </a:p>
        </p:txBody>
      </p:sp>
      <p:sp>
        <p:nvSpPr>
          <p:cNvPr id="5" name="Rounded Rectangle 4"/>
          <p:cNvSpPr/>
          <p:nvPr/>
        </p:nvSpPr>
        <p:spPr>
          <a:xfrm>
            <a:off x="8138160" y="822960"/>
            <a:ext cx="3200400" cy="4754880"/>
          </a:xfrm>
          <a:prstGeom prst="roundRect">
            <a:avLst>
              <a:gd name="adj" fmla="val 8000"/>
            </a:avLst>
          </a:prstGeom>
          <a:solidFill>
            <a:srgbClr val="FFFFFF"/>
          </a:solidFill>
          <a:ln w="76200">
            <a:solidFill>
              <a:srgbClr val="161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234440"/>
            <a:ext cx="2651760" cy="274320"/>
          </a:xfrm>
          <a:prstGeom prst="rect">
            <a:avLst/>
          </a:prstGeom>
          <a:noFill/>
        </p:spPr>
        <p:txBody>
          <a:bodyPr wrap="square" anchor="t" lIns="45720" rIns="45720">
            <a:spAutoFit/>
          </a:bodyPr>
          <a:lstStyle/>
          <a:p>
            <a:pPr algn="l">
              <a:spcAft>
                <a:spcPts val="600"/>
              </a:spcAft>
            </a:pPr>
            <a:r>
              <a:rPr sz="1100" b="0" i="0">
                <a:solidFill>
                  <a:srgbClr val="666666"/>
                </a:solidFill>
                <a:latin typeface="Arial"/>
              </a:rPr>
              <a:t>Messages</a:t>
            </a:r>
          </a:p>
        </p:txBody>
      </p:sp>
      <p:sp>
        <p:nvSpPr>
          <p:cNvPr id="7" name="TextBox 6"/>
          <p:cNvSpPr txBox="1"/>
          <p:nvPr/>
        </p:nvSpPr>
        <p:spPr>
          <a:xfrm>
            <a:off x="8412480" y="1481328"/>
            <a:ext cx="2651760" cy="365760"/>
          </a:xfrm>
          <a:prstGeom prst="rect">
            <a:avLst/>
          </a:prstGeom>
          <a:noFill/>
        </p:spPr>
        <p:txBody>
          <a:bodyPr wrap="square" anchor="t" lIns="45720" rIns="45720">
            <a:spAutoFit/>
          </a:bodyPr>
          <a:lstStyle/>
          <a:p>
            <a:pPr algn="l">
              <a:spcAft>
                <a:spcPts val="600"/>
              </a:spcAft>
            </a:pPr>
            <a:r>
              <a:rPr sz="1500" b="1" i="0">
                <a:solidFill>
                  <a:srgbClr val="161616"/>
                </a:solidFill>
                <a:latin typeface="Arial"/>
              </a:rPr>
              <a:t>Tribunal judiciaire</a:t>
            </a:r>
          </a:p>
        </p:txBody>
      </p:sp>
      <p:sp>
        <p:nvSpPr>
          <p:cNvPr id="8" name="TextBox 7"/>
          <p:cNvSpPr txBox="1"/>
          <p:nvPr/>
        </p:nvSpPr>
        <p:spPr>
          <a:xfrm>
            <a:off x="8412480" y="3200400"/>
            <a:ext cx="2651760" cy="457200"/>
          </a:xfrm>
          <a:prstGeom prst="rect">
            <a:avLst/>
          </a:prstGeom>
          <a:noFill/>
        </p:spPr>
        <p:txBody>
          <a:bodyPr wrap="square" anchor="t" lIns="45720" rIns="45720">
            <a:spAutoFit/>
          </a:bodyPr>
          <a:lstStyle/>
          <a:p>
            <a:pPr algn="ctr">
              <a:spcAft>
                <a:spcPts val="600"/>
              </a:spcAft>
            </a:pPr>
            <a:r>
              <a:rPr sz="1800" b="1" i="0">
                <a:solidFill>
                  <a:srgbClr val="929292"/>
                </a:solidFill>
                <a:latin typeface="Arial"/>
              </a:rPr>
              <a:t>Aucun message</a:t>
            </a:r>
          </a:p>
        </p:txBody>
      </p:sp>
      <p:sp>
        <p:nvSpPr>
          <p:cNvPr id="9" name="Rectangle 8"/>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1188720"/>
          </a:xfrm>
          <a:prstGeom prst="rect">
            <a:avLst/>
          </a:prstGeom>
          <a:noFill/>
        </p:spPr>
        <p:txBody>
          <a:bodyPr wrap="square" anchor="t" lIns="45720" rIns="45720">
            <a:spAutoFit/>
          </a:bodyPr>
          <a:lstStyle/>
          <a:p>
            <a:pPr algn="l">
              <a:spcAft>
                <a:spcPts val="600"/>
              </a:spcAft>
            </a:pPr>
            <a:r>
              <a:rPr sz="3400" b="1" i="0">
                <a:solidFill>
                  <a:srgbClr val="161616"/>
                </a:solidFill>
                <a:latin typeface="Arial"/>
              </a:rPr>
              <a:t>À peine un tribunal sur deux prévient la victime.</a:t>
            </a:r>
          </a:p>
        </p:txBody>
      </p:sp>
      <p:sp>
        <p:nvSpPr>
          <p:cNvPr id="3" name="Rectangle 2"/>
          <p:cNvSpPr/>
          <p:nvPr/>
        </p:nvSpPr>
        <p:spPr>
          <a:xfrm>
            <a:off x="685800" y="1828800"/>
            <a:ext cx="5394960" cy="320040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828800"/>
            <a:ext cx="5394960" cy="64008"/>
          </a:xfrm>
          <a:prstGeom prst="rect">
            <a:avLst/>
          </a:prstGeom>
          <a:solidFill>
            <a:srgbClr val="B34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4937760" cy="1280160"/>
          </a:xfrm>
          <a:prstGeom prst="rect">
            <a:avLst/>
          </a:prstGeom>
          <a:noFill/>
        </p:spPr>
        <p:txBody>
          <a:bodyPr wrap="square" anchor="t" lIns="45720" rIns="45720">
            <a:spAutoFit/>
          </a:bodyPr>
          <a:lstStyle/>
          <a:p>
            <a:pPr algn="l">
              <a:spcAft>
                <a:spcPts val="600"/>
              </a:spcAft>
            </a:pPr>
            <a:r>
              <a:rPr sz="8000" b="1" i="0">
                <a:solidFill>
                  <a:srgbClr val="B34000"/>
                </a:solidFill>
                <a:latin typeface="Arial"/>
              </a:rPr>
              <a:t>55 %</a:t>
            </a:r>
          </a:p>
        </p:txBody>
      </p:sp>
      <p:sp>
        <p:nvSpPr>
          <p:cNvPr id="6" name="TextBox 5"/>
          <p:cNvSpPr txBox="1"/>
          <p:nvPr/>
        </p:nvSpPr>
        <p:spPr>
          <a:xfrm>
            <a:off x="914400" y="3566160"/>
            <a:ext cx="4937760" cy="1371600"/>
          </a:xfrm>
          <a:prstGeom prst="rect">
            <a:avLst/>
          </a:prstGeom>
          <a:noFill/>
        </p:spPr>
        <p:txBody>
          <a:bodyPr wrap="square" anchor="t" lIns="45720" rIns="45720">
            <a:spAutoFit/>
          </a:bodyPr>
          <a:lstStyle/>
          <a:p>
            <a:pPr algn="l">
              <a:spcAft>
                <a:spcPts val="600"/>
              </a:spcAft>
            </a:pPr>
            <a:r>
              <a:rPr sz="2000" b="1" i="0">
                <a:solidFill>
                  <a:srgbClr val="161616"/>
                </a:solidFill>
                <a:latin typeface="Arial"/>
              </a:rPr>
              <a:t>des tribunaux préviennent la victime quand la cour d’appel annule l’ordonnance de protection.</a:t>
            </a:r>
          </a:p>
        </p:txBody>
      </p:sp>
      <p:sp>
        <p:nvSpPr>
          <p:cNvPr id="7" name="Rectangle 6"/>
          <p:cNvSpPr/>
          <p:nvPr/>
        </p:nvSpPr>
        <p:spPr>
          <a:xfrm>
            <a:off x="6309360" y="1828800"/>
            <a:ext cx="5394960" cy="320040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0" y="1828800"/>
            <a:ext cx="539496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057400"/>
            <a:ext cx="4937760" cy="1280160"/>
          </a:xfrm>
          <a:prstGeom prst="rect">
            <a:avLst/>
          </a:prstGeom>
          <a:noFill/>
        </p:spPr>
        <p:txBody>
          <a:bodyPr wrap="square" anchor="t" lIns="45720" rIns="45720">
            <a:spAutoFit/>
          </a:bodyPr>
          <a:lstStyle/>
          <a:p>
            <a:pPr algn="l">
              <a:spcAft>
                <a:spcPts val="600"/>
              </a:spcAft>
            </a:pPr>
            <a:r>
              <a:rPr sz="8000" b="1" i="0">
                <a:solidFill>
                  <a:srgbClr val="929292"/>
                </a:solidFill>
                <a:latin typeface="Arial"/>
              </a:rPr>
              <a:t>95 %</a:t>
            </a:r>
          </a:p>
        </p:txBody>
      </p:sp>
      <p:sp>
        <p:nvSpPr>
          <p:cNvPr id="10" name="TextBox 9"/>
          <p:cNvSpPr txBox="1"/>
          <p:nvPr/>
        </p:nvSpPr>
        <p:spPr>
          <a:xfrm>
            <a:off x="6537960" y="3566160"/>
            <a:ext cx="4937760" cy="1371600"/>
          </a:xfrm>
          <a:prstGeom prst="rect">
            <a:avLst/>
          </a:prstGeom>
          <a:noFill/>
        </p:spPr>
        <p:txBody>
          <a:bodyPr wrap="square" anchor="t" lIns="45720" rIns="45720">
            <a:spAutoFit/>
          </a:bodyPr>
          <a:lstStyle/>
          <a:p>
            <a:pPr algn="l">
              <a:spcAft>
                <a:spcPts val="600"/>
              </a:spcAft>
            </a:pPr>
            <a:r>
              <a:rPr sz="2000" b="1" i="0">
                <a:solidFill>
                  <a:srgbClr val="161616"/>
                </a:solidFill>
                <a:latin typeface="Arial"/>
              </a:rPr>
              <a:t>quand l’auteur sort en fin de peine.</a:t>
            </a:r>
          </a:p>
        </p:txBody>
      </p:sp>
      <p:sp>
        <p:nvSpPr>
          <p:cNvPr id="11" name="TextBox 10"/>
          <p:cNvSpPr txBox="1"/>
          <p:nvPr/>
        </p:nvSpPr>
        <p:spPr>
          <a:xfrm>
            <a:off x="685800" y="5394960"/>
            <a:ext cx="10789920" cy="457200"/>
          </a:xfrm>
          <a:prstGeom prst="rect">
            <a:avLst/>
          </a:prstGeom>
          <a:noFill/>
        </p:spPr>
        <p:txBody>
          <a:bodyPr wrap="square" anchor="t" lIns="45720" rIns="45720">
            <a:spAutoFit/>
          </a:bodyPr>
          <a:lstStyle/>
          <a:p>
            <a:pPr algn="l">
              <a:spcAft>
                <a:spcPts val="600"/>
              </a:spcAft>
            </a:pPr>
            <a:r>
              <a:rPr sz="1200" b="0" i="0">
                <a:solidFill>
                  <a:srgbClr val="666666"/>
                </a:solidFill>
                <a:latin typeface="Arial"/>
              </a:rPr>
              <a:t>Inspection générale de la justice, rapport n° 073-25, décembre 2025, enquête déclarative auprès de 152 tribunaux judiciaires.</a:t>
            </a:r>
          </a:p>
        </p:txBody>
      </p:sp>
      <p:sp>
        <p:nvSpPr>
          <p:cNvPr id="12" name="Rectangle 11"/>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1188720"/>
          </a:xfrm>
          <a:prstGeom prst="rect">
            <a:avLst/>
          </a:prstGeom>
          <a:noFill/>
        </p:spPr>
        <p:txBody>
          <a:bodyPr wrap="square" anchor="t" lIns="45720" rIns="45720">
            <a:spAutoFit/>
          </a:bodyPr>
          <a:lstStyle/>
          <a:p>
            <a:pPr algn="l">
              <a:spcAft>
                <a:spcPts val="600"/>
              </a:spcAft>
            </a:pPr>
            <a:r>
              <a:rPr sz="3600" b="1" i="0">
                <a:solidFill>
                  <a:srgbClr val="161616"/>
                </a:solidFill>
                <a:latin typeface="Arial"/>
              </a:rPr>
              <a:t>Ces logiciels ne se parlent pas.</a:t>
            </a:r>
          </a:p>
        </p:txBody>
      </p:sp>
      <p:sp>
        <p:nvSpPr>
          <p:cNvPr id="3" name="Rectangle 2"/>
          <p:cNvSpPr/>
          <p:nvPr/>
        </p:nvSpPr>
        <p:spPr>
          <a:xfrm>
            <a:off x="685800" y="1828800"/>
            <a:ext cx="2377440" cy="11887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828800"/>
            <a:ext cx="237744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11680"/>
            <a:ext cx="2377440" cy="457200"/>
          </a:xfrm>
          <a:prstGeom prst="rect">
            <a:avLst/>
          </a:prstGeom>
          <a:noFill/>
        </p:spPr>
        <p:txBody>
          <a:bodyPr wrap="square" anchor="t" lIns="45720" rIns="45720">
            <a:spAutoFit/>
          </a:bodyPr>
          <a:lstStyle/>
          <a:p>
            <a:pPr algn="ctr">
              <a:spcAft>
                <a:spcPts val="600"/>
              </a:spcAft>
            </a:pPr>
            <a:r>
              <a:rPr sz="2000" b="1" i="0">
                <a:solidFill>
                  <a:srgbClr val="161616"/>
                </a:solidFill>
                <a:latin typeface="Arial"/>
              </a:rPr>
              <a:t>Tribunal</a:t>
            </a:r>
          </a:p>
        </p:txBody>
      </p:sp>
      <p:sp>
        <p:nvSpPr>
          <p:cNvPr id="6" name="TextBox 5"/>
          <p:cNvSpPr txBox="1"/>
          <p:nvPr/>
        </p:nvSpPr>
        <p:spPr>
          <a:xfrm>
            <a:off x="685800" y="2514600"/>
            <a:ext cx="2377440" cy="365760"/>
          </a:xfrm>
          <a:prstGeom prst="rect">
            <a:avLst/>
          </a:prstGeom>
          <a:noFill/>
        </p:spPr>
        <p:txBody>
          <a:bodyPr wrap="square" anchor="t" lIns="45720" rIns="45720">
            <a:spAutoFit/>
          </a:bodyPr>
          <a:lstStyle/>
          <a:p>
            <a:pPr algn="ctr">
              <a:spcAft>
                <a:spcPts val="600"/>
              </a:spcAft>
            </a:pPr>
            <a:r>
              <a:rPr sz="1300" b="0" i="0">
                <a:solidFill>
                  <a:srgbClr val="666666"/>
                </a:solidFill>
                <a:latin typeface="Arial"/>
              </a:rPr>
              <a:t>son logiciel</a:t>
            </a:r>
          </a:p>
        </p:txBody>
      </p:sp>
      <p:sp>
        <p:nvSpPr>
          <p:cNvPr id="7" name="TextBox 6"/>
          <p:cNvSpPr txBox="1"/>
          <p:nvPr/>
        </p:nvSpPr>
        <p:spPr>
          <a:xfrm>
            <a:off x="3063240" y="2148840"/>
            <a:ext cx="411480" cy="457200"/>
          </a:xfrm>
          <a:prstGeom prst="rect">
            <a:avLst/>
          </a:prstGeom>
          <a:noFill/>
        </p:spPr>
        <p:txBody>
          <a:bodyPr wrap="square" anchor="t" lIns="45720" rIns="45720">
            <a:spAutoFit/>
          </a:bodyPr>
          <a:lstStyle/>
          <a:p>
            <a:pPr algn="ctr">
              <a:spcAft>
                <a:spcPts val="600"/>
              </a:spcAft>
            </a:pPr>
            <a:r>
              <a:rPr sz="2600" b="1" i="0">
                <a:solidFill>
                  <a:srgbClr val="CE0500"/>
                </a:solidFill>
                <a:latin typeface="Arial"/>
              </a:rPr>
              <a:t>×</a:t>
            </a:r>
          </a:p>
        </p:txBody>
      </p:sp>
      <p:sp>
        <p:nvSpPr>
          <p:cNvPr id="8" name="Rectangle 7"/>
          <p:cNvSpPr/>
          <p:nvPr/>
        </p:nvSpPr>
        <p:spPr>
          <a:xfrm>
            <a:off x="3474720" y="1828800"/>
            <a:ext cx="2377440" cy="11887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0" y="1828800"/>
            <a:ext cx="237744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011680"/>
            <a:ext cx="2377440" cy="457200"/>
          </a:xfrm>
          <a:prstGeom prst="rect">
            <a:avLst/>
          </a:prstGeom>
          <a:noFill/>
        </p:spPr>
        <p:txBody>
          <a:bodyPr wrap="square" anchor="t" lIns="45720" rIns="45720">
            <a:spAutoFit/>
          </a:bodyPr>
          <a:lstStyle/>
          <a:p>
            <a:pPr algn="ctr">
              <a:spcAft>
                <a:spcPts val="600"/>
              </a:spcAft>
            </a:pPr>
            <a:r>
              <a:rPr sz="2000" b="1" i="0">
                <a:solidFill>
                  <a:srgbClr val="161616"/>
                </a:solidFill>
                <a:latin typeface="Arial"/>
              </a:rPr>
              <a:t>Cour d’appel</a:t>
            </a:r>
          </a:p>
        </p:txBody>
      </p:sp>
      <p:sp>
        <p:nvSpPr>
          <p:cNvPr id="11" name="TextBox 10"/>
          <p:cNvSpPr txBox="1"/>
          <p:nvPr/>
        </p:nvSpPr>
        <p:spPr>
          <a:xfrm>
            <a:off x="3474720" y="2514600"/>
            <a:ext cx="2377440" cy="365760"/>
          </a:xfrm>
          <a:prstGeom prst="rect">
            <a:avLst/>
          </a:prstGeom>
          <a:noFill/>
        </p:spPr>
        <p:txBody>
          <a:bodyPr wrap="square" anchor="t" lIns="45720" rIns="45720">
            <a:spAutoFit/>
          </a:bodyPr>
          <a:lstStyle/>
          <a:p>
            <a:pPr algn="ctr">
              <a:spcAft>
                <a:spcPts val="600"/>
              </a:spcAft>
            </a:pPr>
            <a:r>
              <a:rPr sz="1300" b="0" i="0">
                <a:solidFill>
                  <a:srgbClr val="666666"/>
                </a:solidFill>
                <a:latin typeface="Arial"/>
              </a:rPr>
              <a:t>son logiciel</a:t>
            </a:r>
          </a:p>
        </p:txBody>
      </p:sp>
      <p:sp>
        <p:nvSpPr>
          <p:cNvPr id="12" name="TextBox 11"/>
          <p:cNvSpPr txBox="1"/>
          <p:nvPr/>
        </p:nvSpPr>
        <p:spPr>
          <a:xfrm>
            <a:off x="5852160" y="2148840"/>
            <a:ext cx="411480" cy="457200"/>
          </a:xfrm>
          <a:prstGeom prst="rect">
            <a:avLst/>
          </a:prstGeom>
          <a:noFill/>
        </p:spPr>
        <p:txBody>
          <a:bodyPr wrap="square" anchor="t" lIns="45720" rIns="45720">
            <a:spAutoFit/>
          </a:bodyPr>
          <a:lstStyle/>
          <a:p>
            <a:pPr algn="ctr">
              <a:spcAft>
                <a:spcPts val="600"/>
              </a:spcAft>
            </a:pPr>
            <a:r>
              <a:rPr sz="2600" b="1" i="0">
                <a:solidFill>
                  <a:srgbClr val="CE0500"/>
                </a:solidFill>
                <a:latin typeface="Arial"/>
              </a:rPr>
              <a:t>×</a:t>
            </a:r>
          </a:p>
        </p:txBody>
      </p:sp>
      <p:sp>
        <p:nvSpPr>
          <p:cNvPr id="13" name="Rectangle 12"/>
          <p:cNvSpPr/>
          <p:nvPr/>
        </p:nvSpPr>
        <p:spPr>
          <a:xfrm>
            <a:off x="6263640" y="1828800"/>
            <a:ext cx="2377440" cy="11887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828800"/>
            <a:ext cx="237744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011680"/>
            <a:ext cx="2377440" cy="457200"/>
          </a:xfrm>
          <a:prstGeom prst="rect">
            <a:avLst/>
          </a:prstGeom>
          <a:noFill/>
        </p:spPr>
        <p:txBody>
          <a:bodyPr wrap="square" anchor="t" lIns="45720" rIns="45720">
            <a:spAutoFit/>
          </a:bodyPr>
          <a:lstStyle/>
          <a:p>
            <a:pPr algn="ctr">
              <a:spcAft>
                <a:spcPts val="600"/>
              </a:spcAft>
            </a:pPr>
            <a:r>
              <a:rPr sz="2000" b="1" i="0">
                <a:solidFill>
                  <a:srgbClr val="161616"/>
                </a:solidFill>
                <a:latin typeface="Arial"/>
              </a:rPr>
              <a:t>Prison</a:t>
            </a:r>
          </a:p>
        </p:txBody>
      </p:sp>
      <p:sp>
        <p:nvSpPr>
          <p:cNvPr id="16" name="TextBox 15"/>
          <p:cNvSpPr txBox="1"/>
          <p:nvPr/>
        </p:nvSpPr>
        <p:spPr>
          <a:xfrm>
            <a:off x="6263640" y="2514600"/>
            <a:ext cx="2377440" cy="365760"/>
          </a:xfrm>
          <a:prstGeom prst="rect">
            <a:avLst/>
          </a:prstGeom>
          <a:noFill/>
        </p:spPr>
        <p:txBody>
          <a:bodyPr wrap="square" anchor="t" lIns="45720" rIns="45720">
            <a:spAutoFit/>
          </a:bodyPr>
          <a:lstStyle/>
          <a:p>
            <a:pPr algn="ctr">
              <a:spcAft>
                <a:spcPts val="600"/>
              </a:spcAft>
            </a:pPr>
            <a:r>
              <a:rPr sz="1300" b="0" i="0">
                <a:solidFill>
                  <a:srgbClr val="666666"/>
                </a:solidFill>
                <a:latin typeface="Arial"/>
              </a:rPr>
              <a:t>son logiciel</a:t>
            </a:r>
          </a:p>
        </p:txBody>
      </p:sp>
      <p:sp>
        <p:nvSpPr>
          <p:cNvPr id="17" name="TextBox 16"/>
          <p:cNvSpPr txBox="1"/>
          <p:nvPr/>
        </p:nvSpPr>
        <p:spPr>
          <a:xfrm>
            <a:off x="8641080" y="2148840"/>
            <a:ext cx="411480" cy="457200"/>
          </a:xfrm>
          <a:prstGeom prst="rect">
            <a:avLst/>
          </a:prstGeom>
          <a:noFill/>
        </p:spPr>
        <p:txBody>
          <a:bodyPr wrap="square" anchor="t" lIns="45720" rIns="45720">
            <a:spAutoFit/>
          </a:bodyPr>
          <a:lstStyle/>
          <a:p>
            <a:pPr algn="ctr">
              <a:spcAft>
                <a:spcPts val="600"/>
              </a:spcAft>
            </a:pPr>
            <a:r>
              <a:rPr sz="2600" b="1" i="0">
                <a:solidFill>
                  <a:srgbClr val="CE0500"/>
                </a:solidFill>
                <a:latin typeface="Arial"/>
              </a:rPr>
              <a:t>×</a:t>
            </a:r>
          </a:p>
        </p:txBody>
      </p:sp>
      <p:sp>
        <p:nvSpPr>
          <p:cNvPr id="18" name="Rectangle 17"/>
          <p:cNvSpPr/>
          <p:nvPr/>
        </p:nvSpPr>
        <p:spPr>
          <a:xfrm>
            <a:off x="9052559" y="1828800"/>
            <a:ext cx="2377440" cy="11887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52559" y="1828800"/>
            <a:ext cx="237744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59" y="2011680"/>
            <a:ext cx="2377440" cy="457200"/>
          </a:xfrm>
          <a:prstGeom prst="rect">
            <a:avLst/>
          </a:prstGeom>
          <a:noFill/>
        </p:spPr>
        <p:txBody>
          <a:bodyPr wrap="square" anchor="t" lIns="45720" rIns="45720">
            <a:spAutoFit/>
          </a:bodyPr>
          <a:lstStyle/>
          <a:p>
            <a:pPr algn="ctr">
              <a:spcAft>
                <a:spcPts val="600"/>
              </a:spcAft>
            </a:pPr>
            <a:r>
              <a:rPr sz="2000" b="1" i="0">
                <a:solidFill>
                  <a:srgbClr val="161616"/>
                </a:solidFill>
                <a:latin typeface="Arial"/>
              </a:rPr>
              <a:t>Police</a:t>
            </a:r>
          </a:p>
        </p:txBody>
      </p:sp>
      <p:sp>
        <p:nvSpPr>
          <p:cNvPr id="21" name="TextBox 20"/>
          <p:cNvSpPr txBox="1"/>
          <p:nvPr/>
        </p:nvSpPr>
        <p:spPr>
          <a:xfrm>
            <a:off x="9052559" y="2514600"/>
            <a:ext cx="2377440" cy="365760"/>
          </a:xfrm>
          <a:prstGeom prst="rect">
            <a:avLst/>
          </a:prstGeom>
          <a:noFill/>
        </p:spPr>
        <p:txBody>
          <a:bodyPr wrap="square" anchor="t" lIns="45720" rIns="45720">
            <a:spAutoFit/>
          </a:bodyPr>
          <a:lstStyle/>
          <a:p>
            <a:pPr algn="ctr">
              <a:spcAft>
                <a:spcPts val="600"/>
              </a:spcAft>
            </a:pPr>
            <a:r>
              <a:rPr sz="1300" b="0" i="0">
                <a:solidFill>
                  <a:srgbClr val="666666"/>
                </a:solidFill>
                <a:latin typeface="Arial"/>
              </a:rPr>
              <a:t>son logiciel</a:t>
            </a:r>
          </a:p>
        </p:txBody>
      </p:sp>
      <p:sp>
        <p:nvSpPr>
          <p:cNvPr id="22" name="TextBox 21"/>
          <p:cNvSpPr txBox="1"/>
          <p:nvPr/>
        </p:nvSpPr>
        <p:spPr>
          <a:xfrm>
            <a:off x="685800" y="3657600"/>
            <a:ext cx="10789920" cy="2194560"/>
          </a:xfrm>
          <a:prstGeom prst="rect">
            <a:avLst/>
          </a:prstGeom>
          <a:noFill/>
        </p:spPr>
        <p:txBody>
          <a:bodyPr wrap="square" anchor="t" lIns="45720" rIns="45720">
            <a:spAutoFit/>
          </a:bodyPr>
          <a:lstStyle/>
          <a:p>
            <a:pPr algn="l">
              <a:spcAft>
                <a:spcPts val="600"/>
              </a:spcAft>
            </a:pPr>
            <a:r>
              <a:rPr sz="2800" b="1" i="0">
                <a:solidFill>
                  <a:srgbClr val="161616"/>
                </a:solidFill>
                <a:latin typeface="Arial"/>
              </a:rPr>
              <a:t>Plus une information traverse de services, </a:t>
            </a:r>
            <a:r>
              <a:rPr sz="2800" b="1" i="0">
                <a:solidFill>
                  <a:srgbClr val="000091"/>
                </a:solidFill>
                <a:latin typeface="Arial"/>
              </a:rPr>
              <a:t>plus elle se perd en chemin.</a:t>
            </a:r>
          </a:p>
          <a:p>
            <a:pPr algn="l">
              <a:spcAft>
                <a:spcPts val="600"/>
              </a:spcAft>
            </a:pPr>
            <a:r>
              <a:rPr sz="2800" b="1" i="0">
                <a:solidFill>
                  <a:srgbClr val="161616"/>
                </a:solidFill>
                <a:latin typeface="Arial"/>
              </a:rPr>
              <a:t>Personne ne vérifie </a:t>
            </a:r>
            <a:r>
              <a:rPr sz="2800" b="1" i="0">
                <a:solidFill>
                  <a:srgbClr val="000091"/>
                </a:solidFill>
                <a:latin typeface="Arial"/>
              </a:rPr>
              <a:t>qu’elle est arrivée.</a:t>
            </a:r>
          </a:p>
        </p:txBody>
      </p:sp>
      <p:sp>
        <p:nvSpPr>
          <p:cNvPr id="23" name="Rectangle 22"/>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554480"/>
            <a:ext cx="10789920" cy="2011680"/>
          </a:xfrm>
          <a:prstGeom prst="rect">
            <a:avLst/>
          </a:prstGeom>
          <a:noFill/>
        </p:spPr>
        <p:txBody>
          <a:bodyPr wrap="square" anchor="t" lIns="45720" rIns="45720">
            <a:spAutoFit/>
          </a:bodyPr>
          <a:lstStyle/>
          <a:p>
            <a:pPr algn="l">
              <a:spcAft>
                <a:spcPts val="600"/>
              </a:spcAft>
            </a:pPr>
            <a:r>
              <a:rPr sz="5000" b="1" i="0">
                <a:solidFill>
                  <a:srgbClr val="161616"/>
                </a:solidFill>
                <a:latin typeface="Arial"/>
              </a:rPr>
              <a:t>On suit mieux un colis </a:t>
            </a:r>
            <a:r>
              <a:rPr sz="5000" b="1" i="0">
                <a:solidFill>
                  <a:srgbClr val="000091"/>
                </a:solidFill>
                <a:latin typeface="Arial"/>
              </a:rPr>
              <a:t>qu’une décision de justice.</a:t>
            </a:r>
          </a:p>
        </p:txBody>
      </p:sp>
      <p:sp>
        <p:nvSpPr>
          <p:cNvPr id="3" name="Rectangle 2"/>
          <p:cNvSpPr/>
          <p:nvPr/>
        </p:nvSpPr>
        <p:spPr>
          <a:xfrm>
            <a:off x="685800" y="4160520"/>
            <a:ext cx="54864" cy="11887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60520"/>
            <a:ext cx="10058400" cy="1188720"/>
          </a:xfrm>
          <a:prstGeom prst="rect">
            <a:avLst/>
          </a:prstGeom>
          <a:noFill/>
        </p:spPr>
        <p:txBody>
          <a:bodyPr wrap="square" anchor="ctr" lIns="45720" rIns="45720">
            <a:spAutoFit/>
          </a:bodyPr>
          <a:lstStyle/>
          <a:p>
            <a:pPr algn="l">
              <a:spcAft>
                <a:spcPts val="600"/>
              </a:spcAft>
            </a:pPr>
            <a:r>
              <a:rPr sz="2600" b="1" i="0">
                <a:solidFill>
                  <a:srgbClr val="000091"/>
                </a:solidFill>
                <a:latin typeface="Arial"/>
              </a:rPr>
              <a:t>Comment transformer la lourdeur procédurale en levier d’efficacité au service de l’état de droit ?</a:t>
            </a:r>
          </a:p>
        </p:txBody>
      </p:sp>
      <p:sp>
        <p:nvSpPr>
          <p:cNvPr id="5" name="Rectangle 4"/>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4572000" cy="1280160"/>
          </a:xfrm>
          <a:prstGeom prst="rect">
            <a:avLst/>
          </a:prstGeom>
          <a:noFill/>
        </p:spPr>
        <p:txBody>
          <a:bodyPr wrap="square" anchor="t" lIns="45720" rIns="45720">
            <a:spAutoFit/>
          </a:bodyPr>
          <a:lstStyle/>
          <a:p>
            <a:pPr algn="l">
              <a:spcAft>
                <a:spcPts val="600"/>
              </a:spcAft>
            </a:pPr>
            <a:r>
              <a:rPr sz="7200" b="1" i="0">
                <a:solidFill>
                  <a:srgbClr val="000091"/>
                </a:solidFill>
                <a:latin typeface="Arial"/>
              </a:rPr>
              <a:t>Kairos</a:t>
            </a:r>
          </a:p>
        </p:txBody>
      </p:sp>
      <p:sp>
        <p:nvSpPr>
          <p:cNvPr id="3" name="TextBox 2"/>
          <p:cNvSpPr txBox="1"/>
          <p:nvPr/>
        </p:nvSpPr>
        <p:spPr>
          <a:xfrm>
            <a:off x="4846320" y="1051560"/>
            <a:ext cx="5486400" cy="548640"/>
          </a:xfrm>
          <a:prstGeom prst="rect">
            <a:avLst/>
          </a:prstGeom>
          <a:noFill/>
        </p:spPr>
        <p:txBody>
          <a:bodyPr wrap="square" anchor="t" lIns="45720" rIns="45720">
            <a:spAutoFit/>
          </a:bodyPr>
          <a:lstStyle/>
          <a:p>
            <a:pPr algn="l">
              <a:spcAft>
                <a:spcPts val="600"/>
              </a:spcAft>
            </a:pPr>
            <a:r>
              <a:rPr sz="2400" b="0" i="0">
                <a:solidFill>
                  <a:srgbClr val="666666"/>
                </a:solidFill>
                <a:latin typeface="Arial"/>
              </a:rPr>
              <a:t>en grec, </a:t>
            </a:r>
            <a:r>
              <a:rPr sz="2400" b="0" i="1">
                <a:solidFill>
                  <a:srgbClr val="161616"/>
                </a:solidFill>
                <a:latin typeface="Arial"/>
              </a:rPr>
              <a:t>le bon moment</a:t>
            </a:r>
          </a:p>
        </p:txBody>
      </p:sp>
      <p:sp>
        <p:nvSpPr>
          <p:cNvPr id="4" name="Rectangle 3"/>
          <p:cNvSpPr/>
          <p:nvPr/>
        </p:nvSpPr>
        <p:spPr>
          <a:xfrm>
            <a:off x="685800" y="2194560"/>
            <a:ext cx="5120640" cy="1371600"/>
          </a:xfrm>
          <a:prstGeom prst="rect">
            <a:avLst/>
          </a:prstGeom>
          <a:noFill/>
          <a:ln w="12700">
            <a:solidFill>
              <a:srgbClr val="929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31720"/>
            <a:ext cx="4754880" cy="548640"/>
          </a:xfrm>
          <a:prstGeom prst="rect">
            <a:avLst/>
          </a:prstGeom>
          <a:noFill/>
        </p:spPr>
        <p:txBody>
          <a:bodyPr wrap="square" anchor="t" lIns="45720" rIns="45720">
            <a:spAutoFit/>
          </a:bodyPr>
          <a:lstStyle/>
          <a:p>
            <a:pPr algn="l">
              <a:spcAft>
                <a:spcPts val="600"/>
              </a:spcAft>
            </a:pPr>
            <a:r>
              <a:rPr sz="2400" b="1" i="0">
                <a:solidFill>
                  <a:srgbClr val="161616"/>
                </a:solidFill>
                <a:latin typeface="Arial"/>
              </a:rPr>
              <a:t>Cassiopée</a:t>
            </a:r>
          </a:p>
        </p:txBody>
      </p:sp>
      <p:sp>
        <p:nvSpPr>
          <p:cNvPr id="6" name="TextBox 5"/>
          <p:cNvSpPr txBox="1"/>
          <p:nvPr/>
        </p:nvSpPr>
        <p:spPr>
          <a:xfrm>
            <a:off x="914400" y="2926080"/>
            <a:ext cx="4754880" cy="548640"/>
          </a:xfrm>
          <a:prstGeom prst="rect">
            <a:avLst/>
          </a:prstGeom>
          <a:noFill/>
        </p:spPr>
        <p:txBody>
          <a:bodyPr wrap="square" anchor="t" lIns="45720" rIns="45720">
            <a:spAutoFit/>
          </a:bodyPr>
          <a:lstStyle/>
          <a:p>
            <a:pPr algn="l">
              <a:spcAft>
                <a:spcPts val="600"/>
              </a:spcAft>
            </a:pPr>
            <a:r>
              <a:rPr sz="1400" b="0" i="0">
                <a:solidFill>
                  <a:srgbClr val="666666"/>
                </a:solidFill>
                <a:latin typeface="Arial"/>
              </a:rPr>
              <a:t>le logiciel des affaires pénales de chaque tribunal</a:t>
            </a:r>
          </a:p>
        </p:txBody>
      </p:sp>
      <p:sp>
        <p:nvSpPr>
          <p:cNvPr id="7" name="TextBox 6"/>
          <p:cNvSpPr txBox="1"/>
          <p:nvPr/>
        </p:nvSpPr>
        <p:spPr>
          <a:xfrm>
            <a:off x="5852160" y="2560320"/>
            <a:ext cx="548640" cy="731520"/>
          </a:xfrm>
          <a:prstGeom prst="rect">
            <a:avLst/>
          </a:prstGeom>
          <a:noFill/>
        </p:spPr>
        <p:txBody>
          <a:bodyPr wrap="square" anchor="t" lIns="45720" rIns="45720">
            <a:spAutoFit/>
          </a:bodyPr>
          <a:lstStyle/>
          <a:p>
            <a:pPr algn="ctr">
              <a:spcAft>
                <a:spcPts val="600"/>
              </a:spcAft>
            </a:pPr>
            <a:r>
              <a:rPr sz="3600" b="1" i="0">
                <a:solidFill>
                  <a:srgbClr val="000091"/>
                </a:solidFill>
                <a:latin typeface="Arial"/>
              </a:rPr>
              <a:t>+</a:t>
            </a:r>
          </a:p>
        </p:txBody>
      </p:sp>
      <p:sp>
        <p:nvSpPr>
          <p:cNvPr id="8" name="Rectangle 7"/>
          <p:cNvSpPr/>
          <p:nvPr/>
        </p:nvSpPr>
        <p:spPr>
          <a:xfrm>
            <a:off x="6446520" y="2194560"/>
            <a:ext cx="5029200"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331720"/>
            <a:ext cx="4572000" cy="548640"/>
          </a:xfrm>
          <a:prstGeom prst="rect">
            <a:avLst/>
          </a:prstGeom>
          <a:noFill/>
        </p:spPr>
        <p:txBody>
          <a:bodyPr wrap="square" anchor="t" lIns="45720" rIns="45720">
            <a:spAutoFit/>
          </a:bodyPr>
          <a:lstStyle/>
          <a:p>
            <a:pPr algn="l">
              <a:spcAft>
                <a:spcPts val="600"/>
              </a:spcAft>
            </a:pPr>
            <a:r>
              <a:rPr sz="2400" b="1" i="0">
                <a:solidFill>
                  <a:srgbClr val="FFFFFF"/>
                </a:solidFill>
                <a:latin typeface="Arial"/>
              </a:rPr>
              <a:t>Kairos</a:t>
            </a:r>
          </a:p>
        </p:txBody>
      </p:sp>
      <p:sp>
        <p:nvSpPr>
          <p:cNvPr id="10" name="TextBox 9"/>
          <p:cNvSpPr txBox="1"/>
          <p:nvPr/>
        </p:nvSpPr>
        <p:spPr>
          <a:xfrm>
            <a:off x="6675120" y="2926080"/>
            <a:ext cx="4572000" cy="548640"/>
          </a:xfrm>
          <a:prstGeom prst="rect">
            <a:avLst/>
          </a:prstGeom>
          <a:noFill/>
        </p:spPr>
        <p:txBody>
          <a:bodyPr wrap="square" anchor="t" lIns="45720" rIns="45720">
            <a:spAutoFit/>
          </a:bodyPr>
          <a:lstStyle/>
          <a:p>
            <a:pPr algn="l">
              <a:spcAft>
                <a:spcPts val="600"/>
              </a:spcAft>
            </a:pPr>
            <a:r>
              <a:rPr sz="1400" b="0" i="0">
                <a:solidFill>
                  <a:srgbClr val="FFFFFF"/>
                </a:solidFill>
                <a:latin typeface="Arial"/>
              </a:rPr>
              <a:t>une brique d’intelligence artificielle qui s’y ajoute</a:t>
            </a:r>
          </a:p>
        </p:txBody>
      </p:sp>
      <p:sp>
        <p:nvSpPr>
          <p:cNvPr id="11" name="Rectangle 10"/>
          <p:cNvSpPr/>
          <p:nvPr/>
        </p:nvSpPr>
        <p:spPr>
          <a:xfrm>
            <a:off x="685800" y="4297680"/>
            <a:ext cx="3429000" cy="13716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4297680"/>
            <a:ext cx="64008"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34840"/>
            <a:ext cx="3108960" cy="548640"/>
          </a:xfrm>
          <a:prstGeom prst="rect">
            <a:avLst/>
          </a:prstGeom>
          <a:noFill/>
        </p:spPr>
        <p:txBody>
          <a:bodyPr wrap="square" anchor="t" lIns="45720" rIns="45720">
            <a:spAutoFit/>
          </a:bodyPr>
          <a:lstStyle/>
          <a:p>
            <a:pPr algn="l">
              <a:spcAft>
                <a:spcPts val="600"/>
              </a:spcAft>
            </a:pPr>
            <a:r>
              <a:rPr sz="2200" b="1" i="0">
                <a:solidFill>
                  <a:srgbClr val="000091"/>
                </a:solidFill>
                <a:latin typeface="Arial"/>
              </a:rPr>
              <a:t>Plus fiable</a:t>
            </a:r>
          </a:p>
        </p:txBody>
      </p:sp>
      <p:sp>
        <p:nvSpPr>
          <p:cNvPr id="14" name="TextBox 13"/>
          <p:cNvSpPr txBox="1"/>
          <p:nvPr/>
        </p:nvSpPr>
        <p:spPr>
          <a:xfrm>
            <a:off x="914400" y="5029200"/>
            <a:ext cx="3108960" cy="548640"/>
          </a:xfrm>
          <a:prstGeom prst="rect">
            <a:avLst/>
          </a:prstGeom>
          <a:noFill/>
        </p:spPr>
        <p:txBody>
          <a:bodyPr wrap="square" anchor="t" lIns="45720" rIns="45720">
            <a:spAutoFit/>
          </a:bodyPr>
          <a:lstStyle/>
          <a:p>
            <a:pPr algn="l">
              <a:spcAft>
                <a:spcPts val="600"/>
              </a:spcAft>
            </a:pPr>
            <a:r>
              <a:rPr sz="1500" b="0" i="0">
                <a:solidFill>
                  <a:srgbClr val="161616"/>
                </a:solidFill>
                <a:latin typeface="Arial"/>
              </a:rPr>
              <a:t>le suivi des procédures.</a:t>
            </a:r>
          </a:p>
        </p:txBody>
      </p:sp>
      <p:sp>
        <p:nvSpPr>
          <p:cNvPr id="15" name="Rectangle 14"/>
          <p:cNvSpPr/>
          <p:nvPr/>
        </p:nvSpPr>
        <p:spPr>
          <a:xfrm>
            <a:off x="4343400" y="4297680"/>
            <a:ext cx="3429000" cy="13716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4297680"/>
            <a:ext cx="64008"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4434840"/>
            <a:ext cx="3108960" cy="548640"/>
          </a:xfrm>
          <a:prstGeom prst="rect">
            <a:avLst/>
          </a:prstGeom>
          <a:noFill/>
        </p:spPr>
        <p:txBody>
          <a:bodyPr wrap="square" anchor="t" lIns="45720" rIns="45720">
            <a:spAutoFit/>
          </a:bodyPr>
          <a:lstStyle/>
          <a:p>
            <a:pPr algn="l">
              <a:spcAft>
                <a:spcPts val="600"/>
              </a:spcAft>
            </a:pPr>
            <a:r>
              <a:rPr sz="2200" b="1" i="0">
                <a:solidFill>
                  <a:srgbClr val="000091"/>
                </a:solidFill>
                <a:latin typeface="Arial"/>
              </a:rPr>
              <a:t>Plus léger</a:t>
            </a:r>
          </a:p>
        </p:txBody>
      </p:sp>
      <p:sp>
        <p:nvSpPr>
          <p:cNvPr id="18" name="TextBox 17"/>
          <p:cNvSpPr txBox="1"/>
          <p:nvPr/>
        </p:nvSpPr>
        <p:spPr>
          <a:xfrm>
            <a:off x="4572000" y="5029200"/>
            <a:ext cx="3108960" cy="548640"/>
          </a:xfrm>
          <a:prstGeom prst="rect">
            <a:avLst/>
          </a:prstGeom>
          <a:noFill/>
        </p:spPr>
        <p:txBody>
          <a:bodyPr wrap="square" anchor="t" lIns="45720" rIns="45720">
            <a:spAutoFit/>
          </a:bodyPr>
          <a:lstStyle/>
          <a:p>
            <a:pPr algn="l">
              <a:spcAft>
                <a:spcPts val="600"/>
              </a:spcAft>
            </a:pPr>
            <a:r>
              <a:rPr sz="1500" b="0" i="0">
                <a:solidFill>
                  <a:srgbClr val="161616"/>
                </a:solidFill>
                <a:latin typeface="Arial"/>
              </a:rPr>
              <a:t>les tâches administratives.</a:t>
            </a:r>
          </a:p>
        </p:txBody>
      </p:sp>
      <p:sp>
        <p:nvSpPr>
          <p:cNvPr id="19" name="Rectangle 18"/>
          <p:cNvSpPr/>
          <p:nvPr/>
        </p:nvSpPr>
        <p:spPr>
          <a:xfrm>
            <a:off x="8001000" y="4297680"/>
            <a:ext cx="3429000" cy="13716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4297680"/>
            <a:ext cx="64008"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4434840"/>
            <a:ext cx="3108960" cy="548640"/>
          </a:xfrm>
          <a:prstGeom prst="rect">
            <a:avLst/>
          </a:prstGeom>
          <a:noFill/>
        </p:spPr>
        <p:txBody>
          <a:bodyPr wrap="square" anchor="t" lIns="45720" rIns="45720">
            <a:spAutoFit/>
          </a:bodyPr>
          <a:lstStyle/>
          <a:p>
            <a:pPr algn="l">
              <a:spcAft>
                <a:spcPts val="600"/>
              </a:spcAft>
            </a:pPr>
            <a:r>
              <a:rPr sz="2200" b="1" i="0">
                <a:solidFill>
                  <a:srgbClr val="000091"/>
                </a:solidFill>
                <a:latin typeface="Arial"/>
              </a:rPr>
              <a:t>Rien ne passe</a:t>
            </a:r>
          </a:p>
        </p:txBody>
      </p:sp>
      <p:sp>
        <p:nvSpPr>
          <p:cNvPr id="22" name="TextBox 21"/>
          <p:cNvSpPr txBox="1"/>
          <p:nvPr/>
        </p:nvSpPr>
        <p:spPr>
          <a:xfrm>
            <a:off x="8229600" y="5029200"/>
            <a:ext cx="3108960" cy="548640"/>
          </a:xfrm>
          <a:prstGeom prst="rect">
            <a:avLst/>
          </a:prstGeom>
          <a:noFill/>
        </p:spPr>
        <p:txBody>
          <a:bodyPr wrap="square" anchor="t" lIns="45720" rIns="45720">
            <a:spAutoFit/>
          </a:bodyPr>
          <a:lstStyle/>
          <a:p>
            <a:pPr algn="l">
              <a:spcAft>
                <a:spcPts val="600"/>
              </a:spcAft>
            </a:pPr>
            <a:r>
              <a:rPr sz="1500" b="0" i="0">
                <a:solidFill>
                  <a:srgbClr val="161616"/>
                </a:solidFill>
                <a:latin typeface="Arial"/>
              </a:rPr>
              <a:t>entre les mailles du filet.</a:t>
            </a:r>
          </a:p>
        </p:txBody>
      </p:sp>
      <p:sp>
        <p:nvSpPr>
          <p:cNvPr id="23" name="Rectangle 22"/>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1188720"/>
          </a:xfrm>
          <a:prstGeom prst="rect">
            <a:avLst/>
          </a:prstGeom>
          <a:noFill/>
        </p:spPr>
        <p:txBody>
          <a:bodyPr wrap="square" anchor="t" lIns="45720" rIns="45720">
            <a:spAutoFit/>
          </a:bodyPr>
          <a:lstStyle/>
          <a:p>
            <a:pPr algn="l">
              <a:spcAft>
                <a:spcPts val="600"/>
              </a:spcAft>
            </a:pPr>
            <a:r>
              <a:rPr sz="3200" b="1" i="0">
                <a:solidFill>
                  <a:srgbClr val="161616"/>
                </a:solidFill>
                <a:latin typeface="Arial"/>
              </a:rPr>
              <a:t>Kairos repose sur trois fonctions.</a:t>
            </a:r>
          </a:p>
        </p:txBody>
      </p:sp>
      <p:sp>
        <p:nvSpPr>
          <p:cNvPr id="3" name="Rectangle 2"/>
          <p:cNvSpPr/>
          <p:nvPr/>
        </p:nvSpPr>
        <p:spPr>
          <a:xfrm>
            <a:off x="685800" y="1463040"/>
            <a:ext cx="3429000" cy="4114800"/>
          </a:xfrm>
          <a:prstGeom prst="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6304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691640"/>
            <a:ext cx="411480" cy="411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09928"/>
            <a:ext cx="411480" cy="365760"/>
          </a:xfrm>
          <a:prstGeom prst="rect">
            <a:avLst/>
          </a:prstGeom>
          <a:noFill/>
        </p:spPr>
        <p:txBody>
          <a:bodyPr wrap="square" anchor="t" lIns="45720" rIns="45720">
            <a:spAutoFit/>
          </a:bodyPr>
          <a:lstStyle/>
          <a:p>
            <a:pPr algn="ctr">
              <a:spcAft>
                <a:spcPts val="600"/>
              </a:spcAft>
            </a:pPr>
            <a:r>
              <a:rPr sz="1600" b="1" i="0">
                <a:solidFill>
                  <a:srgbClr val="FFFFFF"/>
                </a:solidFill>
                <a:latin typeface="Arial"/>
              </a:rPr>
              <a:t>1</a:t>
            </a:r>
          </a:p>
        </p:txBody>
      </p:sp>
      <p:sp>
        <p:nvSpPr>
          <p:cNvPr id="7" name="TextBox 6"/>
          <p:cNvSpPr txBox="1"/>
          <p:nvPr/>
        </p:nvSpPr>
        <p:spPr>
          <a:xfrm>
            <a:off x="868680" y="2194560"/>
            <a:ext cx="3108960" cy="640080"/>
          </a:xfrm>
          <a:prstGeom prst="rect">
            <a:avLst/>
          </a:prstGeom>
          <a:noFill/>
        </p:spPr>
        <p:txBody>
          <a:bodyPr wrap="square" anchor="t" lIns="45720" rIns="45720">
            <a:spAutoFit/>
          </a:bodyPr>
          <a:lstStyle/>
          <a:p>
            <a:pPr algn="l">
              <a:spcAft>
                <a:spcPts val="600"/>
              </a:spcAft>
            </a:pPr>
            <a:r>
              <a:rPr sz="1900" b="1" i="0">
                <a:solidFill>
                  <a:srgbClr val="161616"/>
                </a:solidFill>
                <a:latin typeface="Arial"/>
              </a:rPr>
              <a:t>Fiabiliser les données</a:t>
            </a:r>
          </a:p>
        </p:txBody>
      </p:sp>
      <p:sp>
        <p:nvSpPr>
          <p:cNvPr id="8" name="TextBox 7"/>
          <p:cNvSpPr txBox="1"/>
          <p:nvPr/>
        </p:nvSpPr>
        <p:spPr>
          <a:xfrm>
            <a:off x="868680" y="2834640"/>
            <a:ext cx="3108960" cy="2560320"/>
          </a:xfrm>
          <a:prstGeom prst="rect">
            <a:avLst/>
          </a:prstGeom>
          <a:noFill/>
        </p:spPr>
        <p:txBody>
          <a:bodyPr wrap="square" anchor="t" lIns="45720" rIns="45720">
            <a:spAutoFit/>
          </a:bodyPr>
          <a:lstStyle/>
          <a:p>
            <a:pPr algn="l">
              <a:spcAft>
                <a:spcPts val="600"/>
              </a:spcAft>
            </a:pPr>
            <a:r>
              <a:rPr sz="1300" b="0" i="0">
                <a:solidFill>
                  <a:srgbClr val="161616"/>
                </a:solidFill>
                <a:latin typeface="Arial"/>
              </a:rPr>
              <a:t>• Il lit les procès-verbaux et les décisions : qui, quoi, quand.</a:t>
            </a:r>
          </a:p>
          <a:p>
            <a:pPr algn="l">
              <a:spcAft>
                <a:spcPts val="600"/>
              </a:spcAft>
            </a:pPr>
            <a:r>
              <a:rPr sz="1300" b="0" i="0">
                <a:solidFill>
                  <a:srgbClr val="161616"/>
                </a:solidFill>
                <a:latin typeface="Arial"/>
              </a:rPr>
              <a:t>• Il vérifie que rien ne manque : mentions obligatoires, coordonnées à jour, délais, risques de nullité.</a:t>
            </a:r>
          </a:p>
          <a:p>
            <a:pPr algn="l">
              <a:spcAft>
                <a:spcPts val="600"/>
              </a:spcAft>
            </a:pPr>
            <a:r>
              <a:rPr sz="1300" b="0" i="0">
                <a:solidFill>
                  <a:srgbClr val="161616"/>
                </a:solidFill>
                <a:latin typeface="Arial"/>
              </a:rPr>
              <a:t>• S’il détecte un manque, il alerte le greffe ou le magistrat, qui décide.</a:t>
            </a:r>
          </a:p>
        </p:txBody>
      </p:sp>
      <p:sp>
        <p:nvSpPr>
          <p:cNvPr id="9" name="Rectangle 8"/>
          <p:cNvSpPr/>
          <p:nvPr/>
        </p:nvSpPr>
        <p:spPr>
          <a:xfrm>
            <a:off x="4343400" y="1463040"/>
            <a:ext cx="3429000" cy="4114800"/>
          </a:xfrm>
          <a:prstGeom prst="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1691640"/>
            <a:ext cx="411480" cy="411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709928"/>
            <a:ext cx="411480" cy="365760"/>
          </a:xfrm>
          <a:prstGeom prst="rect">
            <a:avLst/>
          </a:prstGeom>
          <a:noFill/>
        </p:spPr>
        <p:txBody>
          <a:bodyPr wrap="square" anchor="t" lIns="45720" rIns="45720">
            <a:spAutoFit/>
          </a:bodyPr>
          <a:lstStyle/>
          <a:p>
            <a:pPr algn="ctr">
              <a:spcAft>
                <a:spcPts val="600"/>
              </a:spcAft>
            </a:pPr>
            <a:r>
              <a:rPr sz="1600" b="1" i="0">
                <a:solidFill>
                  <a:srgbClr val="FFFFFF"/>
                </a:solidFill>
                <a:latin typeface="Arial"/>
              </a:rPr>
              <a:t>2</a:t>
            </a:r>
          </a:p>
        </p:txBody>
      </p:sp>
      <p:sp>
        <p:nvSpPr>
          <p:cNvPr id="13" name="TextBox 12"/>
          <p:cNvSpPr txBox="1"/>
          <p:nvPr/>
        </p:nvSpPr>
        <p:spPr>
          <a:xfrm>
            <a:off x="4526280" y="2194560"/>
            <a:ext cx="3108960" cy="640080"/>
          </a:xfrm>
          <a:prstGeom prst="rect">
            <a:avLst/>
          </a:prstGeom>
          <a:noFill/>
        </p:spPr>
        <p:txBody>
          <a:bodyPr wrap="square" anchor="t" lIns="45720" rIns="45720">
            <a:spAutoFit/>
          </a:bodyPr>
          <a:lstStyle/>
          <a:p>
            <a:pPr algn="l">
              <a:spcAft>
                <a:spcPts val="600"/>
              </a:spcAft>
            </a:pPr>
            <a:r>
              <a:rPr sz="1900" b="1" i="0">
                <a:solidFill>
                  <a:srgbClr val="161616"/>
                </a:solidFill>
                <a:latin typeface="Arial"/>
              </a:rPr>
              <a:t>Interconnecter les services</a:t>
            </a:r>
          </a:p>
        </p:txBody>
      </p:sp>
      <p:sp>
        <p:nvSpPr>
          <p:cNvPr id="14" name="TextBox 13"/>
          <p:cNvSpPr txBox="1"/>
          <p:nvPr/>
        </p:nvSpPr>
        <p:spPr>
          <a:xfrm>
            <a:off x="4526280" y="2834640"/>
            <a:ext cx="3108960" cy="2560320"/>
          </a:xfrm>
          <a:prstGeom prst="rect">
            <a:avLst/>
          </a:prstGeom>
          <a:noFill/>
        </p:spPr>
        <p:txBody>
          <a:bodyPr wrap="square" anchor="t" lIns="45720" rIns="45720">
            <a:spAutoFit/>
          </a:bodyPr>
          <a:lstStyle/>
          <a:p>
            <a:pPr algn="l">
              <a:spcAft>
                <a:spcPts val="600"/>
              </a:spcAft>
            </a:pPr>
            <a:r>
              <a:rPr sz="1300" b="0" i="0">
                <a:solidFill>
                  <a:srgbClr val="161616"/>
                </a:solidFill>
                <a:latin typeface="Arial"/>
              </a:rPr>
              <a:t>• Une information saisie une fois est partagée : tribunal, cour d’appel, prison, police.</a:t>
            </a:r>
          </a:p>
          <a:p>
            <a:pPr algn="l">
              <a:spcAft>
                <a:spcPts val="600"/>
              </a:spcAft>
            </a:pPr>
            <a:r>
              <a:rPr sz="1300" b="0" i="0">
                <a:solidFill>
                  <a:srgbClr val="161616"/>
                </a:solidFill>
                <a:latin typeface="Arial"/>
              </a:rPr>
              <a:t>• Plus de ressaisie, plus de versions différentes.</a:t>
            </a:r>
          </a:p>
          <a:p>
            <a:pPr algn="l">
              <a:spcAft>
                <a:spcPts val="600"/>
              </a:spcAft>
            </a:pPr>
            <a:r>
              <a:rPr sz="1300" b="0" i="0">
                <a:solidFill>
                  <a:srgbClr val="161616"/>
                </a:solidFill>
                <a:latin typeface="Arial"/>
              </a:rPr>
              <a:t>• Il sait qui doit être prévenu, et dans quel délai.</a:t>
            </a:r>
          </a:p>
        </p:txBody>
      </p:sp>
      <p:sp>
        <p:nvSpPr>
          <p:cNvPr id="15" name="Rectangle 14"/>
          <p:cNvSpPr/>
          <p:nvPr/>
        </p:nvSpPr>
        <p:spPr>
          <a:xfrm>
            <a:off x="8001000" y="1463040"/>
            <a:ext cx="3429000" cy="4114800"/>
          </a:xfrm>
          <a:prstGeom prst="rect">
            <a:avLst/>
          </a:prstGeom>
          <a:solidFill>
            <a:srgbClr val="F5F5FE"/>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46304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691640"/>
            <a:ext cx="411480" cy="411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709928"/>
            <a:ext cx="411480" cy="365760"/>
          </a:xfrm>
          <a:prstGeom prst="rect">
            <a:avLst/>
          </a:prstGeom>
          <a:noFill/>
        </p:spPr>
        <p:txBody>
          <a:bodyPr wrap="square" anchor="t" lIns="45720" rIns="45720">
            <a:spAutoFit/>
          </a:bodyPr>
          <a:lstStyle/>
          <a:p>
            <a:pPr algn="ctr">
              <a:spcAft>
                <a:spcPts val="600"/>
              </a:spcAft>
            </a:pPr>
            <a:r>
              <a:rPr sz="1600" b="1" i="0">
                <a:solidFill>
                  <a:srgbClr val="FFFFFF"/>
                </a:solidFill>
                <a:latin typeface="Arial"/>
              </a:rPr>
              <a:t>3</a:t>
            </a:r>
          </a:p>
        </p:txBody>
      </p:sp>
      <p:sp>
        <p:nvSpPr>
          <p:cNvPr id="19" name="TextBox 18"/>
          <p:cNvSpPr txBox="1"/>
          <p:nvPr/>
        </p:nvSpPr>
        <p:spPr>
          <a:xfrm>
            <a:off x="8183879" y="2194560"/>
            <a:ext cx="3108960" cy="640080"/>
          </a:xfrm>
          <a:prstGeom prst="rect">
            <a:avLst/>
          </a:prstGeom>
          <a:noFill/>
        </p:spPr>
        <p:txBody>
          <a:bodyPr wrap="square" anchor="t" lIns="45720" rIns="45720">
            <a:spAutoFit/>
          </a:bodyPr>
          <a:lstStyle/>
          <a:p>
            <a:pPr algn="l">
              <a:spcAft>
                <a:spcPts val="600"/>
              </a:spcAft>
            </a:pPr>
            <a:r>
              <a:rPr sz="1900" b="1" i="0">
                <a:solidFill>
                  <a:srgbClr val="161616"/>
                </a:solidFill>
                <a:latin typeface="Arial"/>
              </a:rPr>
              <a:t>Notifier automatiquement</a:t>
            </a:r>
          </a:p>
        </p:txBody>
      </p:sp>
      <p:sp>
        <p:nvSpPr>
          <p:cNvPr id="20" name="TextBox 19"/>
          <p:cNvSpPr txBox="1"/>
          <p:nvPr/>
        </p:nvSpPr>
        <p:spPr>
          <a:xfrm>
            <a:off x="8183879" y="2743200"/>
            <a:ext cx="3108960" cy="274320"/>
          </a:xfrm>
          <a:prstGeom prst="rect">
            <a:avLst/>
          </a:prstGeom>
          <a:noFill/>
        </p:spPr>
        <p:txBody>
          <a:bodyPr wrap="square" anchor="t" lIns="45720" rIns="45720">
            <a:spAutoFit/>
          </a:bodyPr>
          <a:lstStyle/>
          <a:p>
            <a:pPr algn="l">
              <a:spcAft>
                <a:spcPts val="600"/>
              </a:spcAft>
            </a:pPr>
            <a:r>
              <a:rPr sz="1200" b="1" i="0">
                <a:solidFill>
                  <a:srgbClr val="000091"/>
                </a:solidFill>
                <a:latin typeface="Arial"/>
              </a:rPr>
              <a:t>Le cœur de notre projet</a:t>
            </a:r>
          </a:p>
        </p:txBody>
      </p:sp>
      <p:sp>
        <p:nvSpPr>
          <p:cNvPr id="21" name="TextBox 20"/>
          <p:cNvSpPr txBox="1"/>
          <p:nvPr/>
        </p:nvSpPr>
        <p:spPr>
          <a:xfrm>
            <a:off x="8183879" y="3063240"/>
            <a:ext cx="3108960" cy="2560320"/>
          </a:xfrm>
          <a:prstGeom prst="rect">
            <a:avLst/>
          </a:prstGeom>
          <a:noFill/>
        </p:spPr>
        <p:txBody>
          <a:bodyPr wrap="square" anchor="t" lIns="45720" rIns="45720">
            <a:spAutoFit/>
          </a:bodyPr>
          <a:lstStyle/>
          <a:p>
            <a:pPr algn="l">
              <a:spcAft>
                <a:spcPts val="600"/>
              </a:spcAft>
            </a:pPr>
            <a:r>
              <a:rPr sz="1300" b="0" i="0">
                <a:solidFill>
                  <a:srgbClr val="161616"/>
                </a:solidFill>
                <a:latin typeface="Arial"/>
              </a:rPr>
              <a:t>• Il prépare un message clair ; un agent du greffe le valide, puis il part.</a:t>
            </a:r>
          </a:p>
          <a:p>
            <a:pPr algn="l">
              <a:spcAft>
                <a:spcPts val="600"/>
              </a:spcAft>
            </a:pPr>
            <a:r>
              <a:rPr sz="1300" b="0" i="0">
                <a:solidFill>
                  <a:srgbClr val="161616"/>
                </a:solidFill>
                <a:latin typeface="Arial"/>
              </a:rPr>
              <a:t>• Il le suit : envoyé, distribué, consulté quand c’est techniquement possible.</a:t>
            </a:r>
          </a:p>
          <a:p>
            <a:pPr algn="l">
              <a:spcAft>
                <a:spcPts val="600"/>
              </a:spcAft>
            </a:pPr>
            <a:r>
              <a:rPr sz="1300" b="0" i="0">
                <a:solidFill>
                  <a:srgbClr val="161616"/>
                </a:solidFill>
                <a:latin typeface="Arial"/>
              </a:rPr>
              <a:t>• S’il n’aboutit pas à temps, le greffe est alerté.</a:t>
            </a:r>
          </a:p>
        </p:txBody>
      </p:sp>
      <p:sp>
        <p:nvSpPr>
          <p:cNvPr id="22" name="TextBox 21"/>
          <p:cNvSpPr txBox="1"/>
          <p:nvPr/>
        </p:nvSpPr>
        <p:spPr>
          <a:xfrm>
            <a:off x="685800" y="5715000"/>
            <a:ext cx="10789920" cy="548640"/>
          </a:xfrm>
          <a:prstGeom prst="rect">
            <a:avLst/>
          </a:prstGeom>
          <a:noFill/>
        </p:spPr>
        <p:txBody>
          <a:bodyPr wrap="square" anchor="t" lIns="45720" rIns="45720">
            <a:spAutoFit/>
          </a:bodyPr>
          <a:lstStyle/>
          <a:p>
            <a:pPr algn="l">
              <a:spcAft>
                <a:spcPts val="600"/>
              </a:spcAft>
            </a:pPr>
            <a:r>
              <a:rPr sz="2400" b="1" i="0">
                <a:solidFill>
                  <a:srgbClr val="161616"/>
                </a:solidFill>
                <a:latin typeface="Arial"/>
              </a:rPr>
              <a:t>On ne suppose plus que l’information est passée : </a:t>
            </a:r>
            <a:r>
              <a:rPr sz="2400" b="1" i="0">
                <a:solidFill>
                  <a:srgbClr val="000091"/>
                </a:solidFill>
                <a:latin typeface="Arial"/>
              </a:rPr>
              <a:t>on le sait.</a:t>
            </a:r>
          </a:p>
        </p:txBody>
      </p:sp>
      <p:sp>
        <p:nvSpPr>
          <p:cNvPr id="23" name="Rectangle 22"/>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1188720"/>
          </a:xfrm>
          <a:prstGeom prst="rect">
            <a:avLst/>
          </a:prstGeom>
          <a:noFill/>
        </p:spPr>
        <p:txBody>
          <a:bodyPr wrap="square" anchor="t" lIns="45720" rIns="45720">
            <a:spAutoFit/>
          </a:bodyPr>
          <a:lstStyle/>
          <a:p>
            <a:pPr algn="l">
              <a:spcAft>
                <a:spcPts val="600"/>
              </a:spcAft>
            </a:pPr>
            <a:r>
              <a:rPr sz="3200" b="1" i="0">
                <a:solidFill>
                  <a:srgbClr val="161616"/>
                </a:solidFill>
                <a:latin typeface="Arial"/>
              </a:rPr>
              <a:t>Le squelette de Kairos.</a:t>
            </a:r>
          </a:p>
        </p:txBody>
      </p:sp>
      <p:sp>
        <p:nvSpPr>
          <p:cNvPr id="3" name="Rectangle 2"/>
          <p:cNvSpPr/>
          <p:nvPr/>
        </p:nvSpPr>
        <p:spPr>
          <a:xfrm>
            <a:off x="685800" y="1280160"/>
            <a:ext cx="3429000" cy="411480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280160"/>
            <a:ext cx="3429000" cy="64008"/>
          </a:xfrm>
          <a:prstGeom prst="rect">
            <a:avLst/>
          </a:prstGeom>
          <a:solidFill>
            <a:srgbClr val="929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3108960" cy="548640"/>
          </a:xfrm>
          <a:prstGeom prst="rect">
            <a:avLst/>
          </a:prstGeom>
          <a:noFill/>
        </p:spPr>
        <p:txBody>
          <a:bodyPr wrap="square" anchor="t" lIns="45720" rIns="45720">
            <a:spAutoFit/>
          </a:bodyPr>
          <a:lstStyle/>
          <a:p>
            <a:pPr algn="l">
              <a:spcAft>
                <a:spcPts val="600"/>
              </a:spcAft>
            </a:pPr>
            <a:r>
              <a:rPr sz="2000" b="1" i="0">
                <a:solidFill>
                  <a:srgbClr val="161616"/>
                </a:solidFill>
                <a:latin typeface="Arial"/>
              </a:rPr>
              <a:t>Nos sources</a:t>
            </a:r>
          </a:p>
        </p:txBody>
      </p:sp>
      <p:sp>
        <p:nvSpPr>
          <p:cNvPr id="6" name="TextBox 5"/>
          <p:cNvSpPr txBox="1"/>
          <p:nvPr/>
        </p:nvSpPr>
        <p:spPr>
          <a:xfrm>
            <a:off x="868680" y="2103120"/>
            <a:ext cx="3108960" cy="3200400"/>
          </a:xfrm>
          <a:prstGeom prst="rect">
            <a:avLst/>
          </a:prstGeom>
          <a:noFill/>
        </p:spPr>
        <p:txBody>
          <a:bodyPr wrap="square" anchor="t" lIns="45720" rIns="45720">
            <a:spAutoFit/>
          </a:bodyPr>
          <a:lstStyle/>
          <a:p>
            <a:pPr algn="l">
              <a:spcAft>
                <a:spcPts val="600"/>
              </a:spcAft>
            </a:pPr>
            <a:r>
              <a:rPr sz="1400" b="0" i="0">
                <a:solidFill>
                  <a:srgbClr val="161616"/>
                </a:solidFill>
                <a:latin typeface="Arial"/>
              </a:rPr>
              <a:t>• Cassiopée, la procédure pénale</a:t>
            </a:r>
          </a:p>
          <a:p>
            <a:pPr algn="l">
              <a:spcAft>
                <a:spcPts val="600"/>
              </a:spcAft>
            </a:pPr>
            <a:r>
              <a:rPr sz="1400" b="0" i="0">
                <a:solidFill>
                  <a:srgbClr val="161616"/>
                </a:solidFill>
                <a:latin typeface="Arial"/>
              </a:rPr>
              <a:t>• Les logiciels civils : JAF, enfants</a:t>
            </a:r>
          </a:p>
          <a:p>
            <a:pPr algn="l">
              <a:spcAft>
                <a:spcPts val="600"/>
              </a:spcAft>
            </a:pPr>
            <a:r>
              <a:rPr sz="1400" b="0" i="0">
                <a:solidFill>
                  <a:srgbClr val="161616"/>
                </a:solidFill>
                <a:latin typeface="Arial"/>
              </a:rPr>
              <a:t>• La détention : GENESIS</a:t>
            </a:r>
          </a:p>
          <a:p>
            <a:pPr algn="l">
              <a:spcAft>
                <a:spcPts val="600"/>
              </a:spcAft>
            </a:pPr>
            <a:r>
              <a:rPr sz="1400" b="0" i="0">
                <a:solidFill>
                  <a:srgbClr val="161616"/>
                </a:solidFill>
                <a:latin typeface="Arial"/>
              </a:rPr>
              <a:t>• La police et la gendarmerie</a:t>
            </a:r>
          </a:p>
        </p:txBody>
      </p:sp>
      <p:sp>
        <p:nvSpPr>
          <p:cNvPr id="7" name="Rectangle 6"/>
          <p:cNvSpPr/>
          <p:nvPr/>
        </p:nvSpPr>
        <p:spPr>
          <a:xfrm>
            <a:off x="4343400" y="1280160"/>
            <a:ext cx="3429000" cy="411480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43400" y="128016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463040"/>
            <a:ext cx="3108960" cy="548640"/>
          </a:xfrm>
          <a:prstGeom prst="rect">
            <a:avLst/>
          </a:prstGeom>
          <a:noFill/>
        </p:spPr>
        <p:txBody>
          <a:bodyPr wrap="square" anchor="t" lIns="45720" rIns="45720">
            <a:spAutoFit/>
          </a:bodyPr>
          <a:lstStyle/>
          <a:p>
            <a:pPr algn="l">
              <a:spcAft>
                <a:spcPts val="600"/>
              </a:spcAft>
            </a:pPr>
            <a:r>
              <a:rPr sz="2000" b="1" i="0">
                <a:solidFill>
                  <a:srgbClr val="000091"/>
                </a:solidFill>
                <a:latin typeface="Arial"/>
              </a:rPr>
              <a:t>IA · Ce que fait l’IA</a:t>
            </a:r>
          </a:p>
        </p:txBody>
      </p:sp>
      <p:sp>
        <p:nvSpPr>
          <p:cNvPr id="10" name="TextBox 9"/>
          <p:cNvSpPr txBox="1"/>
          <p:nvPr/>
        </p:nvSpPr>
        <p:spPr>
          <a:xfrm>
            <a:off x="4526280" y="2103120"/>
            <a:ext cx="3108960" cy="3200400"/>
          </a:xfrm>
          <a:prstGeom prst="rect">
            <a:avLst/>
          </a:prstGeom>
          <a:noFill/>
        </p:spPr>
        <p:txBody>
          <a:bodyPr wrap="square" anchor="t" lIns="45720" rIns="45720">
            <a:spAutoFit/>
          </a:bodyPr>
          <a:lstStyle/>
          <a:p>
            <a:pPr algn="l">
              <a:spcAft>
                <a:spcPts val="600"/>
              </a:spcAft>
            </a:pPr>
            <a:r>
              <a:rPr sz="1400" b="0" i="0">
                <a:solidFill>
                  <a:srgbClr val="161616"/>
                </a:solidFill>
                <a:latin typeface="Arial"/>
              </a:rPr>
              <a:t>• Elle lit les PV et les décisions</a:t>
            </a:r>
          </a:p>
          <a:p>
            <a:pPr algn="l">
              <a:spcAft>
                <a:spcPts val="600"/>
              </a:spcAft>
            </a:pPr>
            <a:r>
              <a:rPr sz="1400" b="0" i="0">
                <a:solidFill>
                  <a:srgbClr val="161616"/>
                </a:solidFill>
                <a:latin typeface="Arial"/>
              </a:rPr>
              <a:t>• Elle en extrait personnes, adresses, dates, mesures</a:t>
            </a:r>
          </a:p>
          <a:p>
            <a:pPr algn="l">
              <a:spcAft>
                <a:spcPts val="600"/>
              </a:spcAft>
            </a:pPr>
            <a:r>
              <a:rPr sz="1400" b="0" i="0">
                <a:solidFill>
                  <a:srgbClr val="161616"/>
                </a:solidFill>
                <a:latin typeface="Arial"/>
              </a:rPr>
              <a:t>• Elle vérifie les mentions et les délais</a:t>
            </a:r>
          </a:p>
          <a:p>
            <a:pPr algn="l">
              <a:spcAft>
                <a:spcPts val="600"/>
              </a:spcAft>
            </a:pPr>
            <a:r>
              <a:rPr sz="1400" b="0" i="0">
                <a:solidFill>
                  <a:srgbClr val="161616"/>
                </a:solidFill>
                <a:latin typeface="Arial"/>
              </a:rPr>
              <a:t>• Elle rédige le message, en mots simples</a:t>
            </a:r>
          </a:p>
        </p:txBody>
      </p:sp>
      <p:sp>
        <p:nvSpPr>
          <p:cNvPr id="11" name="Rectangle 10"/>
          <p:cNvSpPr/>
          <p:nvPr/>
        </p:nvSpPr>
        <p:spPr>
          <a:xfrm>
            <a:off x="8001000" y="1280160"/>
            <a:ext cx="3429000" cy="411480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01000" y="1280160"/>
            <a:ext cx="3429000" cy="64008"/>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1463040"/>
            <a:ext cx="3108960" cy="548640"/>
          </a:xfrm>
          <a:prstGeom prst="rect">
            <a:avLst/>
          </a:prstGeom>
          <a:noFill/>
        </p:spPr>
        <p:txBody>
          <a:bodyPr wrap="square" anchor="t" lIns="45720" rIns="45720">
            <a:spAutoFit/>
          </a:bodyPr>
          <a:lstStyle/>
          <a:p>
            <a:pPr algn="l">
              <a:spcAft>
                <a:spcPts val="600"/>
              </a:spcAft>
            </a:pPr>
            <a:r>
              <a:rPr sz="2000" b="1" i="0">
                <a:solidFill>
                  <a:srgbClr val="18753C"/>
                </a:solidFill>
                <a:latin typeface="Arial"/>
              </a:rPr>
              <a:t>Ce que fait la plateforme</a:t>
            </a:r>
          </a:p>
        </p:txBody>
      </p:sp>
      <p:sp>
        <p:nvSpPr>
          <p:cNvPr id="14" name="TextBox 13"/>
          <p:cNvSpPr txBox="1"/>
          <p:nvPr/>
        </p:nvSpPr>
        <p:spPr>
          <a:xfrm>
            <a:off x="8183879" y="2103120"/>
            <a:ext cx="3108960" cy="3200400"/>
          </a:xfrm>
          <a:prstGeom prst="rect">
            <a:avLst/>
          </a:prstGeom>
          <a:noFill/>
        </p:spPr>
        <p:txBody>
          <a:bodyPr wrap="square" anchor="t" lIns="45720" rIns="45720">
            <a:spAutoFit/>
          </a:bodyPr>
          <a:lstStyle/>
          <a:p>
            <a:pPr algn="l">
              <a:spcAft>
                <a:spcPts val="600"/>
              </a:spcAft>
            </a:pPr>
            <a:r>
              <a:rPr sz="1400" b="0" i="0">
                <a:solidFill>
                  <a:srgbClr val="161616"/>
                </a:solidFill>
                <a:latin typeface="Arial"/>
              </a:rPr>
              <a:t>• Elle relie les logiciels</a:t>
            </a:r>
          </a:p>
          <a:p>
            <a:pPr algn="l">
              <a:spcAft>
                <a:spcPts val="600"/>
              </a:spcAft>
            </a:pPr>
            <a:r>
              <a:rPr sz="1400" b="0" i="0">
                <a:solidFill>
                  <a:srgbClr val="161616"/>
                </a:solidFill>
                <a:latin typeface="Arial"/>
              </a:rPr>
              <a:t>• Elle applique les règles : qui informer, en vertu de quel texte</a:t>
            </a:r>
          </a:p>
          <a:p>
            <a:pPr algn="l">
              <a:spcAft>
                <a:spcPts val="600"/>
              </a:spcAft>
            </a:pPr>
            <a:r>
              <a:rPr sz="1400" b="0" i="0">
                <a:solidFill>
                  <a:srgbClr val="161616"/>
                </a:solidFill>
                <a:latin typeface="Arial"/>
              </a:rPr>
              <a:t>• Elle envoie, après validation, et suit : envoyé, distribué, consulté</a:t>
            </a:r>
          </a:p>
          <a:p>
            <a:pPr algn="l">
              <a:spcAft>
                <a:spcPts val="600"/>
              </a:spcAft>
            </a:pPr>
            <a:r>
              <a:rPr sz="1400" b="0" i="0">
                <a:solidFill>
                  <a:srgbClr val="161616"/>
                </a:solidFill>
                <a:latin typeface="Arial"/>
              </a:rPr>
              <a:t>• Elle alerte sur les irrégularités</a:t>
            </a:r>
          </a:p>
          <a:p>
            <a:pPr algn="l">
              <a:spcAft>
                <a:spcPts val="600"/>
              </a:spcAft>
            </a:pPr>
            <a:r>
              <a:rPr sz="1400" b="0" i="0">
                <a:solidFill>
                  <a:srgbClr val="161616"/>
                </a:solidFill>
                <a:latin typeface="Arial"/>
              </a:rPr>
              <a:t>• Elle alerte le greffe et garde la trace</a:t>
            </a:r>
          </a:p>
        </p:txBody>
      </p:sp>
      <p:sp>
        <p:nvSpPr>
          <p:cNvPr id="15" name="Rectangle 14"/>
          <p:cNvSpPr/>
          <p:nvPr/>
        </p:nvSpPr>
        <p:spPr>
          <a:xfrm>
            <a:off x="685800" y="5532120"/>
            <a:ext cx="10789920" cy="685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532120"/>
            <a:ext cx="10789920" cy="685800"/>
          </a:xfrm>
          <a:prstGeom prst="rect">
            <a:avLst/>
          </a:prstGeom>
          <a:noFill/>
        </p:spPr>
        <p:txBody>
          <a:bodyPr wrap="square" anchor="ctr" lIns="45720" rIns="45720">
            <a:spAutoFit/>
          </a:bodyPr>
          <a:lstStyle/>
          <a:p>
            <a:pPr algn="ctr">
              <a:spcAft>
                <a:spcPts val="600"/>
              </a:spcAft>
            </a:pPr>
            <a:r>
              <a:rPr sz="2100" b="1" i="0">
                <a:solidFill>
                  <a:srgbClr val="FFFFFF"/>
                </a:solidFill>
                <a:latin typeface="Arial"/>
              </a:rPr>
              <a:t>L’IA propose.  →  Le greffe valide.  →  La plateforme envoie et prouve.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0040"/>
            <a:ext cx="10789920" cy="640080"/>
          </a:xfrm>
          <a:prstGeom prst="rect">
            <a:avLst/>
          </a:prstGeom>
          <a:noFill/>
        </p:spPr>
        <p:txBody>
          <a:bodyPr wrap="square" anchor="t" lIns="45720" rIns="45720">
            <a:spAutoFit/>
          </a:bodyPr>
          <a:lstStyle/>
          <a:p>
            <a:pPr algn="l">
              <a:spcAft>
                <a:spcPts val="600"/>
              </a:spcAft>
            </a:pPr>
            <a:r>
              <a:rPr sz="3000" b="1" i="0">
                <a:solidFill>
                  <a:srgbClr val="161616"/>
                </a:solidFill>
                <a:latin typeface="Arial"/>
              </a:rPr>
              <a:t>Reprenons cette femme.</a:t>
            </a:r>
          </a:p>
        </p:txBody>
      </p:sp>
      <p:pic>
        <p:nvPicPr>
          <p:cNvPr id="3" name="video 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737360" y="1051560"/>
            <a:ext cx="8686800" cy="4882896"/>
          </a:xfrm>
          <a:prstGeom prst="rect">
            <a:avLst/>
          </a:prstGeom>
        </p:spPr>
      </p:pic>
      <p:sp>
        <p:nvSpPr>
          <p:cNvPr id="4" name="TextBox 3"/>
          <p:cNvSpPr txBox="1"/>
          <p:nvPr/>
        </p:nvSpPr>
        <p:spPr>
          <a:xfrm>
            <a:off x="685800" y="6035040"/>
            <a:ext cx="10789920" cy="365760"/>
          </a:xfrm>
          <a:prstGeom prst="rect">
            <a:avLst/>
          </a:prstGeom>
          <a:noFill/>
        </p:spPr>
        <p:txBody>
          <a:bodyPr wrap="square" anchor="t" lIns="45720" rIns="45720">
            <a:spAutoFit/>
          </a:bodyPr>
          <a:lstStyle/>
          <a:p>
            <a:pPr algn="l">
              <a:spcAft>
                <a:spcPts val="600"/>
              </a:spcAft>
            </a:pPr>
            <a:r>
              <a:rPr sz="1200" b="0" i="0">
                <a:solidFill>
                  <a:srgbClr val="666666"/>
                </a:solidFill>
                <a:latin typeface="Arial"/>
              </a:rPr>
              <a:t>Démonstration, une minute. Données fictives.</a:t>
            </a:r>
          </a:p>
        </p:txBody>
      </p:sp>
      <p:sp>
        <p:nvSpPr>
          <p:cNvPr id="5" name="Rectangle 4"/>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640080"/>
            <a:ext cx="6766560" cy="1645920"/>
          </a:xfrm>
          <a:prstGeom prst="rect">
            <a:avLst/>
          </a:prstGeom>
          <a:noFill/>
        </p:spPr>
        <p:txBody>
          <a:bodyPr wrap="square" anchor="t" lIns="45720" rIns="45720">
            <a:spAutoFit/>
          </a:bodyPr>
          <a:lstStyle/>
          <a:p>
            <a:pPr algn="l">
              <a:spcAft>
                <a:spcPts val="600"/>
              </a:spcAft>
            </a:pPr>
            <a:r>
              <a:rPr sz="3200" b="1" i="0">
                <a:solidFill>
                  <a:srgbClr val="161616"/>
                </a:solidFill>
                <a:latin typeface="Arial"/>
              </a:rPr>
              <a:t>Comme un colis : envoyé, distribué, consulté.</a:t>
            </a:r>
          </a:p>
        </p:txBody>
      </p:sp>
      <p:sp>
        <p:nvSpPr>
          <p:cNvPr id="3" name="Rectangle 2"/>
          <p:cNvSpPr/>
          <p:nvPr/>
        </p:nvSpPr>
        <p:spPr>
          <a:xfrm>
            <a:off x="685800" y="2468880"/>
            <a:ext cx="6766560" cy="17373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60320"/>
            <a:ext cx="6400800" cy="320040"/>
          </a:xfrm>
          <a:prstGeom prst="rect">
            <a:avLst/>
          </a:prstGeom>
          <a:noFill/>
        </p:spPr>
        <p:txBody>
          <a:bodyPr wrap="square" anchor="t" lIns="45720" rIns="45720">
            <a:spAutoFit/>
          </a:bodyPr>
          <a:lstStyle/>
          <a:p>
            <a:pPr algn="l">
              <a:spcAft>
                <a:spcPts val="600"/>
              </a:spcAft>
            </a:pPr>
            <a:r>
              <a:rPr sz="1200" b="0" i="0">
                <a:solidFill>
                  <a:srgbClr val="666666"/>
                </a:solidFill>
                <a:latin typeface="Arial"/>
              </a:rPr>
              <a:t>Message à la victime, validé par le greffe</a:t>
            </a:r>
          </a:p>
        </p:txBody>
      </p:sp>
      <p:sp>
        <p:nvSpPr>
          <p:cNvPr id="5" name="TextBox 4"/>
          <p:cNvSpPr txBox="1"/>
          <p:nvPr/>
        </p:nvSpPr>
        <p:spPr>
          <a:xfrm>
            <a:off x="914400" y="2926080"/>
            <a:ext cx="6400800" cy="1188720"/>
          </a:xfrm>
          <a:prstGeom prst="rect">
            <a:avLst/>
          </a:prstGeom>
          <a:noFill/>
        </p:spPr>
        <p:txBody>
          <a:bodyPr wrap="square" anchor="t" lIns="45720" rIns="45720">
            <a:spAutoFit/>
          </a:bodyPr>
          <a:lstStyle/>
          <a:p>
            <a:pPr algn="l">
              <a:spcAft>
                <a:spcPts val="600"/>
              </a:spcAft>
            </a:pPr>
            <a:r>
              <a:rPr sz="2200" b="1" i="0">
                <a:solidFill>
                  <a:srgbClr val="161616"/>
                </a:solidFill>
                <a:latin typeface="Arial"/>
              </a:rPr>
              <a:t>La cour d’appel a levé l’interdiction de contact. Voici qui appeler.</a:t>
            </a:r>
          </a:p>
        </p:txBody>
      </p:sp>
      <p:sp>
        <p:nvSpPr>
          <p:cNvPr id="6" name="Rectangle 5"/>
          <p:cNvSpPr/>
          <p:nvPr/>
        </p:nvSpPr>
        <p:spPr>
          <a:xfrm>
            <a:off x="685800" y="4480560"/>
            <a:ext cx="6766560" cy="1188720"/>
          </a:xfrm>
          <a:prstGeom prst="rect">
            <a:avLst/>
          </a:prstGeom>
          <a:solidFill>
            <a:srgbClr val="FF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480560"/>
            <a:ext cx="64008" cy="1188720"/>
          </a:xfrm>
          <a:prstGeom prst="rect">
            <a:avLst/>
          </a:prstGeom>
          <a:solidFill>
            <a:srgbClr val="CE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572000"/>
            <a:ext cx="6400800" cy="457200"/>
          </a:xfrm>
          <a:prstGeom prst="rect">
            <a:avLst/>
          </a:prstGeom>
          <a:noFill/>
        </p:spPr>
        <p:txBody>
          <a:bodyPr wrap="square" anchor="t" lIns="45720" rIns="45720">
            <a:spAutoFit/>
          </a:bodyPr>
          <a:lstStyle/>
          <a:p>
            <a:pPr algn="l">
              <a:spcAft>
                <a:spcPts val="600"/>
              </a:spcAft>
            </a:pPr>
            <a:r>
              <a:rPr sz="2000" b="1" i="0">
                <a:solidFill>
                  <a:srgbClr val="CE0500"/>
                </a:solidFill>
                <a:latin typeface="Arial"/>
              </a:rPr>
              <a:t>Sans réponse à temps : le greffe est alerté.</a:t>
            </a:r>
          </a:p>
        </p:txBody>
      </p:sp>
      <p:sp>
        <p:nvSpPr>
          <p:cNvPr id="9" name="TextBox 8"/>
          <p:cNvSpPr txBox="1"/>
          <p:nvPr/>
        </p:nvSpPr>
        <p:spPr>
          <a:xfrm>
            <a:off x="960120" y="5074920"/>
            <a:ext cx="6400800" cy="457200"/>
          </a:xfrm>
          <a:prstGeom prst="rect">
            <a:avLst/>
          </a:prstGeom>
          <a:noFill/>
        </p:spPr>
        <p:txBody>
          <a:bodyPr wrap="square" anchor="t" lIns="45720" rIns="45720">
            <a:spAutoFit/>
          </a:bodyPr>
          <a:lstStyle/>
          <a:p>
            <a:pPr algn="l">
              <a:spcAft>
                <a:spcPts val="600"/>
              </a:spcAft>
            </a:pPr>
            <a:r>
              <a:rPr sz="1400" b="0" i="0">
                <a:solidFill>
                  <a:srgbClr val="161616"/>
                </a:solidFill>
                <a:latin typeface="Arial"/>
              </a:rPr>
              <a:t>Il vérifie les coordonnées, ou contacte la victime autrement.</a:t>
            </a:r>
          </a:p>
        </p:txBody>
      </p:sp>
      <p:sp>
        <p:nvSpPr>
          <p:cNvPr id="10" name="Rounded Rectangle 9"/>
          <p:cNvSpPr/>
          <p:nvPr/>
        </p:nvSpPr>
        <p:spPr>
          <a:xfrm>
            <a:off x="8138160" y="640080"/>
            <a:ext cx="3200400" cy="5120640"/>
          </a:xfrm>
          <a:prstGeom prst="roundRect">
            <a:avLst>
              <a:gd name="adj" fmla="val 8000"/>
            </a:avLst>
          </a:prstGeom>
          <a:solidFill>
            <a:srgbClr val="FFFFFF"/>
          </a:solidFill>
          <a:ln w="76200">
            <a:solidFill>
              <a:srgbClr val="161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051560"/>
            <a:ext cx="2651760" cy="274320"/>
          </a:xfrm>
          <a:prstGeom prst="rect">
            <a:avLst/>
          </a:prstGeom>
          <a:noFill/>
        </p:spPr>
        <p:txBody>
          <a:bodyPr wrap="square" anchor="t" lIns="45720" rIns="45720">
            <a:spAutoFit/>
          </a:bodyPr>
          <a:lstStyle/>
          <a:p>
            <a:pPr algn="l">
              <a:spcAft>
                <a:spcPts val="600"/>
              </a:spcAft>
            </a:pPr>
            <a:r>
              <a:rPr sz="1100" b="0" i="0">
                <a:solidFill>
                  <a:srgbClr val="666666"/>
                </a:solidFill>
                <a:latin typeface="Arial"/>
              </a:rPr>
              <a:t>Suivi de la décision</a:t>
            </a:r>
          </a:p>
        </p:txBody>
      </p:sp>
      <p:sp>
        <p:nvSpPr>
          <p:cNvPr id="12" name="TextBox 11"/>
          <p:cNvSpPr txBox="1"/>
          <p:nvPr/>
        </p:nvSpPr>
        <p:spPr>
          <a:xfrm>
            <a:off x="8412480" y="1298448"/>
            <a:ext cx="2651760" cy="411480"/>
          </a:xfrm>
          <a:prstGeom prst="rect">
            <a:avLst/>
          </a:prstGeom>
          <a:noFill/>
        </p:spPr>
        <p:txBody>
          <a:bodyPr wrap="square" anchor="t" lIns="45720" rIns="45720">
            <a:spAutoFit/>
          </a:bodyPr>
          <a:lstStyle/>
          <a:p>
            <a:pPr algn="l">
              <a:spcAft>
                <a:spcPts val="600"/>
              </a:spcAft>
            </a:pPr>
            <a:r>
              <a:rPr sz="1500" b="1" i="0">
                <a:solidFill>
                  <a:srgbClr val="161616"/>
                </a:solidFill>
                <a:latin typeface="Arial"/>
              </a:rPr>
              <a:t>Interdiction de contact levée</a:t>
            </a:r>
          </a:p>
        </p:txBody>
      </p:sp>
      <p:sp>
        <p:nvSpPr>
          <p:cNvPr id="13" name="Rectangle 12"/>
          <p:cNvSpPr/>
          <p:nvPr/>
        </p:nvSpPr>
        <p:spPr>
          <a:xfrm>
            <a:off x="8458200" y="1783080"/>
            <a:ext cx="256032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58200" y="1947671"/>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15" name="TextBox 14"/>
          <p:cNvSpPr txBox="1"/>
          <p:nvPr/>
        </p:nvSpPr>
        <p:spPr>
          <a:xfrm>
            <a:off x="8823960" y="1883663"/>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La victime</a:t>
            </a:r>
          </a:p>
        </p:txBody>
      </p:sp>
      <p:sp>
        <p:nvSpPr>
          <p:cNvPr id="16" name="TextBox 15"/>
          <p:cNvSpPr txBox="1"/>
          <p:nvPr/>
        </p:nvSpPr>
        <p:spPr>
          <a:xfrm>
            <a:off x="8823960" y="2148839"/>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Envoyé le soir même</a:t>
            </a:r>
          </a:p>
        </p:txBody>
      </p:sp>
      <p:sp>
        <p:nvSpPr>
          <p:cNvPr id="17" name="Oval 16"/>
          <p:cNvSpPr/>
          <p:nvPr/>
        </p:nvSpPr>
        <p:spPr>
          <a:xfrm>
            <a:off x="8458200" y="2606039"/>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18" name="TextBox 17"/>
          <p:cNvSpPr txBox="1"/>
          <p:nvPr/>
        </p:nvSpPr>
        <p:spPr>
          <a:xfrm>
            <a:off x="8823960" y="2542031"/>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Son avocat</a:t>
            </a:r>
          </a:p>
        </p:txBody>
      </p:sp>
      <p:sp>
        <p:nvSpPr>
          <p:cNvPr id="19" name="TextBox 18"/>
          <p:cNvSpPr txBox="1"/>
          <p:nvPr/>
        </p:nvSpPr>
        <p:spPr>
          <a:xfrm>
            <a:off x="8823960" y="2807207"/>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Reçu le soir même</a:t>
            </a:r>
          </a:p>
        </p:txBody>
      </p:sp>
      <p:sp>
        <p:nvSpPr>
          <p:cNvPr id="20" name="Oval 19"/>
          <p:cNvSpPr/>
          <p:nvPr/>
        </p:nvSpPr>
        <p:spPr>
          <a:xfrm>
            <a:off x="8458200" y="3264407"/>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21" name="TextBox 20"/>
          <p:cNvSpPr txBox="1"/>
          <p:nvPr/>
        </p:nvSpPr>
        <p:spPr>
          <a:xfrm>
            <a:off x="8823960" y="3200399"/>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La police</a:t>
            </a:r>
          </a:p>
        </p:txBody>
      </p:sp>
      <p:sp>
        <p:nvSpPr>
          <p:cNvPr id="22" name="TextBox 21"/>
          <p:cNvSpPr txBox="1"/>
          <p:nvPr/>
        </p:nvSpPr>
        <p:spPr>
          <a:xfrm>
            <a:off x="8823960" y="3465575"/>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Reçu le soir même</a:t>
            </a:r>
          </a:p>
        </p:txBody>
      </p:sp>
      <p:sp>
        <p:nvSpPr>
          <p:cNvPr id="23" name="Oval 22"/>
          <p:cNvSpPr/>
          <p:nvPr/>
        </p:nvSpPr>
        <p:spPr>
          <a:xfrm>
            <a:off x="8458200" y="3922775"/>
            <a:ext cx="256032" cy="256032"/>
          </a:xfrm>
          <a:prstGeom prst="ellipse">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Arial"/>
              </a:rPr>
              <a:t>✓</a:t>
            </a:r>
          </a:p>
        </p:txBody>
      </p:sp>
      <p:sp>
        <p:nvSpPr>
          <p:cNvPr id="24" name="TextBox 23"/>
          <p:cNvSpPr txBox="1"/>
          <p:nvPr/>
        </p:nvSpPr>
        <p:spPr>
          <a:xfrm>
            <a:off x="8823960" y="3858767"/>
            <a:ext cx="2194560" cy="320040"/>
          </a:xfrm>
          <a:prstGeom prst="rect">
            <a:avLst/>
          </a:prstGeom>
          <a:noFill/>
        </p:spPr>
        <p:txBody>
          <a:bodyPr wrap="square" anchor="t" lIns="45720" rIns="45720">
            <a:spAutoFit/>
          </a:bodyPr>
          <a:lstStyle/>
          <a:p>
            <a:pPr algn="l">
              <a:spcAft>
                <a:spcPts val="600"/>
              </a:spcAft>
            </a:pPr>
            <a:r>
              <a:rPr sz="1300" b="1" i="0">
                <a:solidFill>
                  <a:srgbClr val="161616"/>
                </a:solidFill>
                <a:latin typeface="Arial"/>
              </a:rPr>
              <a:t>Le lendemain</a:t>
            </a:r>
          </a:p>
        </p:txBody>
      </p:sp>
      <p:sp>
        <p:nvSpPr>
          <p:cNvPr id="25" name="TextBox 24"/>
          <p:cNvSpPr txBox="1"/>
          <p:nvPr/>
        </p:nvSpPr>
        <p:spPr>
          <a:xfrm>
            <a:off x="8823960" y="4123943"/>
            <a:ext cx="2194560" cy="457200"/>
          </a:xfrm>
          <a:prstGeom prst="rect">
            <a:avLst/>
          </a:prstGeom>
          <a:noFill/>
        </p:spPr>
        <p:txBody>
          <a:bodyPr wrap="square" anchor="t" lIns="45720" rIns="45720">
            <a:spAutoFit/>
          </a:bodyPr>
          <a:lstStyle/>
          <a:p>
            <a:pPr algn="l">
              <a:spcAft>
                <a:spcPts val="600"/>
              </a:spcAft>
            </a:pPr>
            <a:r>
              <a:rPr sz="1050" b="0" i="0">
                <a:solidFill>
                  <a:srgbClr val="666666"/>
                </a:solidFill>
                <a:latin typeface="Arial"/>
              </a:rPr>
              <a:t>Consulté : le greffe le sait</a:t>
            </a:r>
          </a:p>
        </p:txBody>
      </p:sp>
      <p:sp>
        <p:nvSpPr>
          <p:cNvPr id="26" name="Rectangle 25"/>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1188720"/>
          </a:xfrm>
          <a:prstGeom prst="rect">
            <a:avLst/>
          </a:prstGeom>
          <a:noFill/>
        </p:spPr>
        <p:txBody>
          <a:bodyPr wrap="square" anchor="t" lIns="45720" rIns="45720">
            <a:spAutoFit/>
          </a:bodyPr>
          <a:lstStyle/>
          <a:p>
            <a:pPr algn="l">
              <a:spcAft>
                <a:spcPts val="600"/>
              </a:spcAft>
            </a:pPr>
            <a:r>
              <a:rPr sz="3600" b="1" i="0">
                <a:solidFill>
                  <a:srgbClr val="161616"/>
                </a:solidFill>
                <a:latin typeface="Arial"/>
              </a:rPr>
              <a:t>Trois enjeux.</a:t>
            </a:r>
          </a:p>
        </p:txBody>
      </p:sp>
      <p:sp>
        <p:nvSpPr>
          <p:cNvPr id="3" name="Rectangle 2"/>
          <p:cNvSpPr/>
          <p:nvPr/>
        </p:nvSpPr>
        <p:spPr>
          <a:xfrm>
            <a:off x="685800" y="1828800"/>
            <a:ext cx="3429000" cy="25603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82880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3017520" cy="640080"/>
          </a:xfrm>
          <a:prstGeom prst="rect">
            <a:avLst/>
          </a:prstGeom>
          <a:noFill/>
        </p:spPr>
        <p:txBody>
          <a:bodyPr wrap="square" anchor="t" lIns="45720" rIns="45720">
            <a:spAutoFit/>
          </a:bodyPr>
          <a:lstStyle/>
          <a:p>
            <a:pPr algn="l">
              <a:spcAft>
                <a:spcPts val="600"/>
              </a:spcAft>
            </a:pPr>
            <a:r>
              <a:rPr sz="2600" b="1" i="0">
                <a:solidFill>
                  <a:srgbClr val="000091"/>
                </a:solidFill>
                <a:latin typeface="Arial"/>
              </a:rPr>
              <a:t>Sa sécurité</a:t>
            </a:r>
          </a:p>
        </p:txBody>
      </p:sp>
      <p:sp>
        <p:nvSpPr>
          <p:cNvPr id="6" name="TextBox 5"/>
          <p:cNvSpPr txBox="1"/>
          <p:nvPr/>
        </p:nvSpPr>
        <p:spPr>
          <a:xfrm>
            <a:off x="914400" y="2834640"/>
            <a:ext cx="3017520" cy="1371600"/>
          </a:xfrm>
          <a:prstGeom prst="rect">
            <a:avLst/>
          </a:prstGeom>
          <a:noFill/>
        </p:spPr>
        <p:txBody>
          <a:bodyPr wrap="square" anchor="t" lIns="45720" rIns="45720">
            <a:spAutoFit/>
          </a:bodyPr>
          <a:lstStyle/>
          <a:p>
            <a:pPr algn="l">
              <a:spcAft>
                <a:spcPts val="600"/>
              </a:spcAft>
            </a:pPr>
            <a:r>
              <a:rPr sz="1900" b="0" i="0">
                <a:solidFill>
                  <a:srgbClr val="161616"/>
                </a:solidFill>
                <a:latin typeface="Arial"/>
              </a:rPr>
              <a:t>Prévenue à temps, elle peut se protéger.</a:t>
            </a:r>
          </a:p>
        </p:txBody>
      </p:sp>
      <p:sp>
        <p:nvSpPr>
          <p:cNvPr id="7" name="Rectangle 6"/>
          <p:cNvSpPr/>
          <p:nvPr/>
        </p:nvSpPr>
        <p:spPr>
          <a:xfrm>
            <a:off x="4343400" y="1828800"/>
            <a:ext cx="3429000" cy="25603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43400" y="182880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03120"/>
            <a:ext cx="3017520" cy="640080"/>
          </a:xfrm>
          <a:prstGeom prst="rect">
            <a:avLst/>
          </a:prstGeom>
          <a:noFill/>
        </p:spPr>
        <p:txBody>
          <a:bodyPr wrap="square" anchor="t" lIns="45720" rIns="45720">
            <a:spAutoFit/>
          </a:bodyPr>
          <a:lstStyle/>
          <a:p>
            <a:pPr algn="l">
              <a:spcAft>
                <a:spcPts val="600"/>
              </a:spcAft>
            </a:pPr>
            <a:r>
              <a:rPr sz="2600" b="1" i="0">
                <a:solidFill>
                  <a:srgbClr val="000091"/>
                </a:solidFill>
                <a:latin typeface="Arial"/>
              </a:rPr>
              <a:t>L’État de droit</a:t>
            </a:r>
          </a:p>
        </p:txBody>
      </p:sp>
      <p:sp>
        <p:nvSpPr>
          <p:cNvPr id="10" name="TextBox 9"/>
          <p:cNvSpPr txBox="1"/>
          <p:nvPr/>
        </p:nvSpPr>
        <p:spPr>
          <a:xfrm>
            <a:off x="4572000" y="2834640"/>
            <a:ext cx="3017520" cy="1371600"/>
          </a:xfrm>
          <a:prstGeom prst="rect">
            <a:avLst/>
          </a:prstGeom>
          <a:noFill/>
        </p:spPr>
        <p:txBody>
          <a:bodyPr wrap="square" anchor="t" lIns="45720" rIns="45720">
            <a:spAutoFit/>
          </a:bodyPr>
          <a:lstStyle/>
          <a:p>
            <a:pPr algn="l">
              <a:spcAft>
                <a:spcPts val="600"/>
              </a:spcAft>
            </a:pPr>
            <a:r>
              <a:rPr sz="1900" b="0" i="0">
                <a:solidFill>
                  <a:srgbClr val="161616"/>
                </a:solidFill>
                <a:latin typeface="Arial"/>
              </a:rPr>
              <a:t>Une décision ne vaut que si elle est connue.</a:t>
            </a:r>
          </a:p>
        </p:txBody>
      </p:sp>
      <p:sp>
        <p:nvSpPr>
          <p:cNvPr id="11" name="Rectangle 10"/>
          <p:cNvSpPr/>
          <p:nvPr/>
        </p:nvSpPr>
        <p:spPr>
          <a:xfrm>
            <a:off x="8001000" y="1828800"/>
            <a:ext cx="3429000" cy="2560320"/>
          </a:xfrm>
          <a:prstGeom prst="rect">
            <a:avLst/>
          </a:prstGeom>
          <a:no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01000" y="1828800"/>
            <a:ext cx="3429000" cy="640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103120"/>
            <a:ext cx="3017520" cy="640080"/>
          </a:xfrm>
          <a:prstGeom prst="rect">
            <a:avLst/>
          </a:prstGeom>
          <a:noFill/>
        </p:spPr>
        <p:txBody>
          <a:bodyPr wrap="square" anchor="t" lIns="45720" rIns="45720">
            <a:spAutoFit/>
          </a:bodyPr>
          <a:lstStyle/>
          <a:p>
            <a:pPr algn="l">
              <a:spcAft>
                <a:spcPts val="600"/>
              </a:spcAft>
            </a:pPr>
            <a:r>
              <a:rPr sz="2600" b="1" i="0">
                <a:solidFill>
                  <a:srgbClr val="000091"/>
                </a:solidFill>
                <a:latin typeface="Arial"/>
              </a:rPr>
              <a:t>La confiance</a:t>
            </a:r>
          </a:p>
        </p:txBody>
      </p:sp>
      <p:sp>
        <p:nvSpPr>
          <p:cNvPr id="14" name="TextBox 13"/>
          <p:cNvSpPr txBox="1"/>
          <p:nvPr/>
        </p:nvSpPr>
        <p:spPr>
          <a:xfrm>
            <a:off x="8229600" y="2834640"/>
            <a:ext cx="3017520" cy="1371600"/>
          </a:xfrm>
          <a:prstGeom prst="rect">
            <a:avLst/>
          </a:prstGeom>
          <a:noFill/>
        </p:spPr>
        <p:txBody>
          <a:bodyPr wrap="square" anchor="t" lIns="45720" rIns="45720">
            <a:spAutoFit/>
          </a:bodyPr>
          <a:lstStyle/>
          <a:p>
            <a:pPr algn="l">
              <a:spcAft>
                <a:spcPts val="600"/>
              </a:spcAft>
            </a:pPr>
            <a:r>
              <a:rPr sz="1900" b="0" i="0">
                <a:solidFill>
                  <a:srgbClr val="161616"/>
                </a:solidFill>
                <a:latin typeface="Arial"/>
              </a:rPr>
              <a:t>Une victime informée continue de croire en la justice.</a:t>
            </a:r>
          </a:p>
        </p:txBody>
      </p:sp>
      <p:sp>
        <p:nvSpPr>
          <p:cNvPr id="15" name="Rectangle 14"/>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097280"/>
            <a:ext cx="10789920" cy="2194560"/>
          </a:xfrm>
          <a:prstGeom prst="rect">
            <a:avLst/>
          </a:prstGeom>
          <a:noFill/>
        </p:spPr>
        <p:txBody>
          <a:bodyPr wrap="square" anchor="t" lIns="45720" rIns="45720">
            <a:spAutoFit/>
          </a:bodyPr>
          <a:lstStyle/>
          <a:p>
            <a:pPr algn="l">
              <a:spcAft>
                <a:spcPts val="600"/>
              </a:spcAft>
            </a:pPr>
            <a:r>
              <a:rPr sz="5400" b="1" i="0">
                <a:solidFill>
                  <a:srgbClr val="161616"/>
                </a:solidFill>
                <a:latin typeface="Arial"/>
              </a:rPr>
              <a:t>Et c’est toujours </a:t>
            </a:r>
            <a:r>
              <a:rPr sz="5400" b="1" i="0">
                <a:solidFill>
                  <a:srgbClr val="000091"/>
                </a:solidFill>
                <a:latin typeface="Arial"/>
              </a:rPr>
              <a:t>un humain qui valide.</a:t>
            </a:r>
          </a:p>
        </p:txBody>
      </p:sp>
      <p:sp>
        <p:nvSpPr>
          <p:cNvPr id="3" name="TextBox 2"/>
          <p:cNvSpPr txBox="1"/>
          <p:nvPr/>
        </p:nvSpPr>
        <p:spPr>
          <a:xfrm>
            <a:off x="685800" y="3291840"/>
            <a:ext cx="10789920" cy="914400"/>
          </a:xfrm>
          <a:prstGeom prst="rect">
            <a:avLst/>
          </a:prstGeom>
          <a:noFill/>
        </p:spPr>
        <p:txBody>
          <a:bodyPr wrap="square" anchor="t" lIns="45720" rIns="45720">
            <a:spAutoFit/>
          </a:bodyPr>
          <a:lstStyle/>
          <a:p>
            <a:pPr algn="l">
              <a:spcAft>
                <a:spcPts val="600"/>
              </a:spcAft>
            </a:pPr>
            <a:r>
              <a:rPr sz="2400" b="0" i="0">
                <a:solidFill>
                  <a:srgbClr val="666666"/>
                </a:solidFill>
                <a:latin typeface="Arial"/>
              </a:rPr>
              <a:t>Kairos ne décide rien. Il n’évalue aucune personne. Chaque action est journalisée.</a:t>
            </a:r>
          </a:p>
        </p:txBody>
      </p:sp>
      <p:sp>
        <p:nvSpPr>
          <p:cNvPr id="4" name="Rectangle 3"/>
          <p:cNvSpPr/>
          <p:nvPr/>
        </p:nvSpPr>
        <p:spPr>
          <a:xfrm>
            <a:off x="685800" y="5120640"/>
            <a:ext cx="1078992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212080"/>
            <a:ext cx="10789920" cy="822960"/>
          </a:xfrm>
          <a:prstGeom prst="rect">
            <a:avLst/>
          </a:prstGeom>
          <a:noFill/>
        </p:spPr>
        <p:txBody>
          <a:bodyPr wrap="square" anchor="t" lIns="45720" rIns="45720">
            <a:spAutoFit/>
          </a:bodyPr>
          <a:lstStyle/>
          <a:p>
            <a:pPr algn="l">
              <a:spcAft>
                <a:spcPts val="600"/>
              </a:spcAft>
            </a:pPr>
            <a:r>
              <a:rPr sz="1200" b="0" i="0">
                <a:solidFill>
                  <a:srgbClr val="666666"/>
                </a:solidFill>
                <a:latin typeface="Arial"/>
              </a:rPr>
              <a:t>Aucune décision fondée sur un traitement automatisé : article 22 du RGPD, article 47 de la loi Informatique et libertés. L’outil reste interne à l’État et respecte le secret de l’enquête et la protection des données.</a:t>
            </a:r>
          </a:p>
        </p:txBody>
      </p:sp>
      <p:sp>
        <p:nvSpPr>
          <p:cNvPr id="6" name="Rectangle 5"/>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463040"/>
            <a:ext cx="10789920" cy="2011680"/>
          </a:xfrm>
          <a:prstGeom prst="rect">
            <a:avLst/>
          </a:prstGeom>
          <a:noFill/>
        </p:spPr>
        <p:txBody>
          <a:bodyPr wrap="square" anchor="t" lIns="45720" rIns="45720">
            <a:spAutoFit/>
          </a:bodyPr>
          <a:lstStyle/>
          <a:p>
            <a:pPr algn="l">
              <a:spcAft>
                <a:spcPts val="600"/>
              </a:spcAft>
            </a:pPr>
            <a:r>
              <a:rPr sz="5000" b="1" i="0">
                <a:solidFill>
                  <a:srgbClr val="161616"/>
                </a:solidFill>
                <a:latin typeface="Arial"/>
              </a:rPr>
              <a:t>Vous savez toujours où est </a:t>
            </a:r>
            <a:r>
              <a:rPr sz="5000" b="1" i="0">
                <a:solidFill>
                  <a:srgbClr val="000091"/>
                </a:solidFill>
                <a:latin typeface="Arial"/>
              </a:rPr>
              <a:t>votre colis.</a:t>
            </a:r>
          </a:p>
        </p:txBody>
      </p:sp>
      <p:sp>
        <p:nvSpPr>
          <p:cNvPr id="3" name="TextBox 2"/>
          <p:cNvSpPr txBox="1"/>
          <p:nvPr/>
        </p:nvSpPr>
        <p:spPr>
          <a:xfrm>
            <a:off x="685800" y="3749039"/>
            <a:ext cx="10789920" cy="1645920"/>
          </a:xfrm>
          <a:prstGeom prst="rect">
            <a:avLst/>
          </a:prstGeom>
          <a:noFill/>
        </p:spPr>
        <p:txBody>
          <a:bodyPr wrap="square" anchor="t" lIns="45720" rIns="45720">
            <a:spAutoFit/>
          </a:bodyPr>
          <a:lstStyle/>
          <a:p>
            <a:pPr algn="l">
              <a:spcAft>
                <a:spcPts val="600"/>
              </a:spcAft>
            </a:pPr>
            <a:r>
              <a:rPr sz="3000" b="1" i="0">
                <a:solidFill>
                  <a:srgbClr val="161616"/>
                </a:solidFill>
                <a:latin typeface="Arial"/>
              </a:rPr>
              <a:t>Nous voulons que chaque victime sache, au bon moment, </a:t>
            </a:r>
            <a:r>
              <a:rPr sz="3000" b="1" i="0">
                <a:solidFill>
                  <a:srgbClr val="000091"/>
                </a:solidFill>
                <a:latin typeface="Arial"/>
              </a:rPr>
              <a:t>ce que la justice a décidé pour elle.</a:t>
            </a:r>
          </a:p>
        </p:txBody>
      </p:sp>
      <p:sp>
        <p:nvSpPr>
          <p:cNvPr id="4" name="Rectangle 3"/>
          <p:cNvSpPr/>
          <p:nvPr/>
        </p:nvSpPr>
        <p:spPr>
          <a:xfrm>
            <a:off x="685800" y="6400800"/>
            <a:ext cx="411480" cy="182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1828800" cy="274320"/>
          </a:xfrm>
          <a:prstGeom prst="rect">
            <a:avLst/>
          </a:prstGeom>
          <a:noFill/>
        </p:spPr>
        <p:txBody>
          <a:bodyPr wrap="square" anchor="t" lIns="45720" rIns="45720">
            <a:spAutoFit/>
          </a:bodyPr>
          <a:lstStyle/>
          <a:p>
            <a:pPr algn="l">
              <a:spcAft>
                <a:spcPts val="600"/>
              </a:spcAft>
            </a:pPr>
            <a:r>
              <a:rPr sz="1100" b="1" i="0">
                <a:solidFill>
                  <a:srgbClr val="161616"/>
                </a:solidFill>
                <a:latin typeface="Arial"/>
              </a:rPr>
              <a:t>Kairos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Grand écran</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Kairos, le suivi de colis de la justice</dc:title>
  <dc:subject>Hackathon Droit × Microsoft, octobre 2026</dc:subject>
  <dc:creator>Équipe Kairos</dc:creator>
  <cp:keywords/>
  <dc:description>Présentation du pitch, démonstration sur données fictives.</dc:description>
  <cp:lastModifiedBy>Équipe Kairos</cp:lastModifiedBy>
  <cp:revision>1</cp:revision>
  <dcterms:created xsi:type="dcterms:W3CDTF">2026-10-15T15:44:00Z</dcterms:created>
  <dcterms:modified xsi:type="dcterms:W3CDTF">2026-10-15T15:44:00Z</dcterms:modified>
  <cp:category/>
</cp:coreProperties>
</file>